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686800" y="-2286000"/>
            <a:ext cx="6400800" cy="6400800"/>
          </a:xfrm>
          <a:prstGeom prst="ellipse">
            <a:avLst/>
          </a:prstGeom>
          <a:solidFill>
            <a:srgbClr val="2A4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1371600" y="4572000"/>
            <a:ext cx="4572000" cy="4572000"/>
          </a:xfrm>
          <a:prstGeom prst="ellipse">
            <a:avLst/>
          </a:prstGeom>
          <a:solidFill>
            <a:srgbClr val="203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7240" y="64008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64008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Pretendard"/>
              </a:rPr>
              <a:t>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676656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Pretendard"/>
              </a:rPr>
              <a:t>N-Click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194560"/>
            <a:ext cx="1874519" cy="384048"/>
          </a:xfrm>
          <a:prstGeom prst="roundRect">
            <a:avLst>
              <a:gd name="adj" fmla="val 50000"/>
            </a:avLst>
          </a:prstGeom>
          <a:solidFill>
            <a:srgbClr val="2D4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1874519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DBEAFE"/>
                </a:solidFill>
                <a:latin typeface="Pretendard"/>
              </a:rPr>
              <a:t>QUICK START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43200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0" b="1">
                <a:solidFill>
                  <a:srgbClr val="FFFFFF"/>
                </a:solidFill>
                <a:latin typeface="Pretendard"/>
              </a:rPr>
              <a:t>출퇴근보고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657600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0" b="1">
                <a:solidFill>
                  <a:srgbClr val="FFFFFF"/>
                </a:solidFill>
                <a:latin typeface="Pretendard"/>
              </a:rPr>
              <a:t>빠른 시작 가이드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8006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DBEAFE"/>
                </a:solidFill>
                <a:latin typeface="Pretendard"/>
              </a:rPr>
              <a:t>퇴근보고 한 번 → EW상신 / 휴가상신 자동 연결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5852160"/>
            <a:ext cx="548640" cy="3657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59893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9CB1E2"/>
                </a:solidFill>
                <a:latin typeface="Pretendard"/>
              </a:rPr>
              <a:t>Internal use  ·  HR임팩트본부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2103120"/>
            <a:ext cx="402336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589520" y="2103120"/>
            <a:ext cx="4023360" cy="411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754112" y="2240280"/>
            <a:ext cx="128016" cy="128016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973568" y="2240280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193024" y="2240280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58200" y="214884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Pretendard"/>
              </a:rPr>
              <a:t>ewassistant.vercel.app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269748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F172A"/>
                </a:solidFill>
                <a:latin typeface="Pretendard"/>
              </a:rPr>
              <a:t>오늘의 팀 상태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63840" y="3154680"/>
            <a:ext cx="3474720" cy="54864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001000" y="3291840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66760" y="320040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F172A"/>
                </a:solidFill>
                <a:latin typeface="Pretendard"/>
              </a:rPr>
              <a:t>김민재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3200400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Pretendard"/>
              </a:rPr>
              <a:t>근무 중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63840" y="3794759"/>
            <a:ext cx="3474720" cy="54864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001000" y="3931919"/>
            <a:ext cx="274320" cy="2743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66760" y="3840479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F172A"/>
                </a:solidFill>
                <a:latin typeface="Pretendard"/>
              </a:rPr>
              <a:t>이수진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3840479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Pretendard"/>
              </a:rPr>
              <a:t>휴게 중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63840" y="4434840"/>
            <a:ext cx="3474720" cy="54864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001000" y="4572000"/>
            <a:ext cx="274320" cy="27432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66760" y="448056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F172A"/>
                </a:solidFill>
                <a:latin typeface="Pretendard"/>
              </a:rPr>
              <a:t>박지호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66960" y="4480560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Pretendard"/>
              </a:rPr>
              <a:t>미제출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Pretendard"/>
              </a:rPr>
              <a:t>01  ·  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0584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0F172A"/>
                </a:solidFill>
                <a:latin typeface="Pretendard"/>
              </a:rPr>
              <a:t>기획 의도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4748B"/>
                </a:solidFill>
                <a:latin typeface="Pretendard"/>
              </a:rPr>
              <a:t>EW · 휴가상신을 매번 따로 들어가는 번거로움을 줄이고, 팀 상태를 한 화면에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2560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4A3B8"/>
                </a:solidFill>
                <a:latin typeface="Pretendard"/>
              </a:rPr>
              <a:t>02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4A3B8"/>
                </a:solidFill>
                <a:latin typeface="Pretendard"/>
              </a:rPr>
              <a:t>N-Click  ·  Quick Guide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23160"/>
            <a:ext cx="3611880" cy="29260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05840" y="2788920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788920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1E40AF"/>
                </a:solidFill>
                <a:latin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291840"/>
            <a:ext cx="2880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F172A"/>
                </a:solidFill>
                <a:latin typeface="Pretendard"/>
              </a:rPr>
              <a:t>근로시간 계산이 복잡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114800"/>
            <a:ext cx="2880360" cy="7736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dirty="0" err="1">
                <a:solidFill>
                  <a:srgbClr val="64748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야근</a:t>
            </a:r>
            <a:r>
              <a:rPr sz="1200" dirty="0">
                <a:solidFill>
                  <a:srgbClr val="64748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시 </a:t>
            </a:r>
            <a:r>
              <a:rPr sz="1200" dirty="0" err="1">
                <a:solidFill>
                  <a:srgbClr val="64748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출근</a:t>
            </a:r>
            <a:r>
              <a:rPr sz="1200" dirty="0">
                <a:solidFill>
                  <a:srgbClr val="64748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1200" dirty="0" err="1">
                <a:solidFill>
                  <a:srgbClr val="64748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시간을</a:t>
            </a:r>
            <a:r>
              <a:rPr sz="1200" dirty="0">
                <a:solidFill>
                  <a:srgbClr val="64748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09시로 </a:t>
            </a:r>
            <a:r>
              <a:rPr sz="1200" dirty="0" err="1">
                <a:solidFill>
                  <a:srgbClr val="64748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임의</a:t>
            </a:r>
            <a:r>
              <a:rPr sz="1200" dirty="0">
                <a:solidFill>
                  <a:srgbClr val="64748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1200" dirty="0" err="1">
                <a:solidFill>
                  <a:srgbClr val="64748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조정해</a:t>
            </a:r>
            <a:r>
              <a:rPr sz="1200" dirty="0">
                <a:solidFill>
                  <a:srgbClr val="64748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1200" dirty="0" err="1">
                <a:solidFill>
                  <a:srgbClr val="64748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EW를</a:t>
            </a:r>
            <a:r>
              <a:rPr sz="1200" dirty="0">
                <a:solidFill>
                  <a:srgbClr val="64748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1200" dirty="0" err="1">
                <a:solidFill>
                  <a:srgbClr val="64748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상신하</a:t>
            </a:r>
            <a:r>
              <a:rPr lang="ko-KR" altLang="en-US" sz="1200" dirty="0">
                <a:solidFill>
                  <a:srgbClr val="64748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고 있으나</a:t>
            </a:r>
            <a:r>
              <a:rPr sz="1200" dirty="0">
                <a:solidFill>
                  <a:srgbClr val="64748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sz="1200" dirty="0" err="1">
                <a:solidFill>
                  <a:srgbClr val="64748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실제</a:t>
            </a:r>
            <a:r>
              <a:rPr sz="1200" dirty="0">
                <a:solidFill>
                  <a:srgbClr val="64748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1200" dirty="0" err="1">
                <a:solidFill>
                  <a:srgbClr val="64748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근로시간</a:t>
            </a:r>
            <a:r>
              <a:rPr sz="1200" dirty="0">
                <a:solidFill>
                  <a:srgbClr val="64748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1200" dirty="0" err="1">
                <a:solidFill>
                  <a:srgbClr val="64748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계산이</a:t>
            </a:r>
            <a:r>
              <a:rPr sz="1200" dirty="0">
                <a:solidFill>
                  <a:srgbClr val="64748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1200" dirty="0" err="1">
                <a:solidFill>
                  <a:srgbClr val="64748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번거로움</a:t>
            </a:r>
            <a:r>
              <a:rPr sz="1200" dirty="0">
                <a:solidFill>
                  <a:srgbClr val="64748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423160"/>
            <a:ext cx="3611880" cy="29260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754880" y="2788920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80" y="2788920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1E40AF"/>
                </a:solidFill>
                <a:latin typeface="Pretendar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291840"/>
            <a:ext cx="2880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F172A"/>
                </a:solidFill>
                <a:latin typeface="Pretendard"/>
              </a:rPr>
              <a:t>구성원 상태 파악 어려움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4114800"/>
            <a:ext cx="28803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dirty="0" err="1">
                <a:solidFill>
                  <a:srgbClr val="64748B"/>
                </a:solidFill>
                <a:latin typeface="Pretendard"/>
              </a:rPr>
              <a:t>근무지·근무형태가</a:t>
            </a:r>
            <a:r>
              <a:rPr sz="1200" b="0" dirty="0">
                <a:solidFill>
                  <a:srgbClr val="64748B"/>
                </a:solidFill>
                <a:latin typeface="Pretendard"/>
              </a:rPr>
              <a:t> </a:t>
            </a:r>
            <a:r>
              <a:rPr sz="1200" b="0" dirty="0" err="1">
                <a:solidFill>
                  <a:srgbClr val="64748B"/>
                </a:solidFill>
                <a:latin typeface="Pretendard"/>
              </a:rPr>
              <a:t>별도</a:t>
            </a:r>
            <a:r>
              <a:rPr sz="1200" b="0" dirty="0">
                <a:solidFill>
                  <a:srgbClr val="64748B"/>
                </a:solidFill>
                <a:latin typeface="Pretendard"/>
              </a:rPr>
              <a:t> </a:t>
            </a:r>
            <a:r>
              <a:rPr sz="1200" b="0" dirty="0" err="1">
                <a:solidFill>
                  <a:srgbClr val="64748B"/>
                </a:solidFill>
                <a:latin typeface="Pretendard"/>
              </a:rPr>
              <a:t>관리되지</a:t>
            </a:r>
            <a:r>
              <a:rPr sz="1200" b="0" dirty="0">
                <a:solidFill>
                  <a:srgbClr val="64748B"/>
                </a:solidFill>
                <a:latin typeface="Pretendard"/>
              </a:rPr>
              <a:t> </a:t>
            </a:r>
            <a:r>
              <a:rPr sz="1200" b="0" dirty="0" err="1">
                <a:solidFill>
                  <a:srgbClr val="64748B"/>
                </a:solidFill>
                <a:latin typeface="Pretendard"/>
              </a:rPr>
              <a:t>않고</a:t>
            </a:r>
            <a:r>
              <a:rPr sz="1200" b="0" dirty="0">
                <a:solidFill>
                  <a:srgbClr val="64748B"/>
                </a:solidFill>
                <a:latin typeface="Pretendard"/>
              </a:rPr>
              <a:t>, </a:t>
            </a:r>
            <a:r>
              <a:rPr sz="1200" b="0" dirty="0" err="1">
                <a:solidFill>
                  <a:srgbClr val="64748B"/>
                </a:solidFill>
                <a:latin typeface="Pretendard"/>
              </a:rPr>
              <a:t>출퇴근</a:t>
            </a:r>
            <a:r>
              <a:rPr sz="1200" b="0" dirty="0">
                <a:solidFill>
                  <a:srgbClr val="64748B"/>
                </a:solidFill>
                <a:latin typeface="Pretendard"/>
              </a:rPr>
              <a:t>/</a:t>
            </a:r>
            <a:r>
              <a:rPr sz="1200" b="0" dirty="0" err="1">
                <a:solidFill>
                  <a:srgbClr val="64748B"/>
                </a:solidFill>
                <a:latin typeface="Pretendard"/>
              </a:rPr>
              <a:t>수정에</a:t>
            </a:r>
            <a:r>
              <a:rPr sz="1200" b="0" dirty="0">
                <a:solidFill>
                  <a:srgbClr val="64748B"/>
                </a:solidFill>
                <a:latin typeface="Pretendard"/>
              </a:rPr>
              <a:t> </a:t>
            </a:r>
            <a:r>
              <a:rPr sz="1200" b="0" dirty="0" err="1">
                <a:solidFill>
                  <a:srgbClr val="64748B"/>
                </a:solidFill>
                <a:latin typeface="Pretendard"/>
              </a:rPr>
              <a:t>대한</a:t>
            </a:r>
            <a:r>
              <a:rPr sz="1200" b="0" dirty="0">
                <a:solidFill>
                  <a:srgbClr val="64748B"/>
                </a:solidFill>
                <a:latin typeface="Pretendard"/>
              </a:rPr>
              <a:t> </a:t>
            </a:r>
            <a:r>
              <a:rPr sz="1200" b="0" dirty="0" err="1">
                <a:solidFill>
                  <a:srgbClr val="64748B"/>
                </a:solidFill>
                <a:latin typeface="Pretendard"/>
              </a:rPr>
              <a:t>알림이</a:t>
            </a:r>
            <a:r>
              <a:rPr sz="1200" b="0" dirty="0">
                <a:solidFill>
                  <a:srgbClr val="64748B"/>
                </a:solidFill>
                <a:latin typeface="Pretendard"/>
              </a:rPr>
              <a:t> </a:t>
            </a:r>
            <a:r>
              <a:rPr sz="1200" b="0" dirty="0" err="1">
                <a:solidFill>
                  <a:srgbClr val="64748B"/>
                </a:solidFill>
                <a:latin typeface="Pretendard"/>
              </a:rPr>
              <a:t>없어</a:t>
            </a:r>
            <a:r>
              <a:rPr sz="1200" b="0" dirty="0">
                <a:solidFill>
                  <a:srgbClr val="64748B"/>
                </a:solidFill>
                <a:latin typeface="Pretendard"/>
              </a:rPr>
              <a:t> </a:t>
            </a:r>
            <a:r>
              <a:rPr sz="1200" b="0" dirty="0" err="1">
                <a:solidFill>
                  <a:srgbClr val="64748B"/>
                </a:solidFill>
                <a:latin typeface="Pretendard"/>
              </a:rPr>
              <a:t>업무</a:t>
            </a:r>
            <a:r>
              <a:rPr sz="1200" b="0" dirty="0">
                <a:solidFill>
                  <a:srgbClr val="64748B"/>
                </a:solidFill>
                <a:latin typeface="Pretendard"/>
              </a:rPr>
              <a:t> </a:t>
            </a:r>
            <a:r>
              <a:rPr sz="1200" b="0" dirty="0" err="1">
                <a:solidFill>
                  <a:srgbClr val="64748B"/>
                </a:solidFill>
                <a:latin typeface="Pretendard"/>
              </a:rPr>
              <a:t>상태</a:t>
            </a:r>
            <a:r>
              <a:rPr sz="1200" b="0" dirty="0">
                <a:solidFill>
                  <a:srgbClr val="64748B"/>
                </a:solidFill>
                <a:latin typeface="Pretendard"/>
              </a:rPr>
              <a:t> </a:t>
            </a:r>
            <a:r>
              <a:rPr sz="1200" b="0" dirty="0" err="1">
                <a:solidFill>
                  <a:srgbClr val="64748B"/>
                </a:solidFill>
                <a:latin typeface="Pretendard"/>
              </a:rPr>
              <a:t>공유에</a:t>
            </a:r>
            <a:r>
              <a:rPr sz="1200" b="0" dirty="0">
                <a:solidFill>
                  <a:srgbClr val="64748B"/>
                </a:solidFill>
                <a:latin typeface="Pretendard"/>
              </a:rPr>
              <a:t> </a:t>
            </a:r>
            <a:r>
              <a:rPr sz="1200" b="0" dirty="0" err="1">
                <a:solidFill>
                  <a:srgbClr val="64748B"/>
                </a:solidFill>
                <a:latin typeface="Pretendard"/>
              </a:rPr>
              <a:t>한계</a:t>
            </a:r>
            <a:r>
              <a:rPr sz="1200" b="0" dirty="0">
                <a:solidFill>
                  <a:srgbClr val="64748B"/>
                </a:solidFill>
                <a:latin typeface="Pretendard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2423160"/>
            <a:ext cx="3611880" cy="29260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503920" y="2788920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03920" y="2788920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1E40AF"/>
                </a:solidFill>
                <a:latin typeface="Pretendard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291840"/>
            <a:ext cx="2880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F172A"/>
                </a:solidFill>
                <a:latin typeface="Pretendard"/>
              </a:rPr>
              <a:t>리더의 누적 시간 관리 부재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114800"/>
            <a:ext cx="28803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64748B"/>
                </a:solidFill>
                <a:latin typeface="Pretendard"/>
              </a:rPr>
              <a:t>구성원의 누적 근로시간과 초과근로 위험을 한눈에 보고 선제적으로 관리할 수단이 부족.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577840"/>
            <a:ext cx="10927080" cy="777240"/>
          </a:xfrm>
          <a:prstGeom prst="roundRect">
            <a:avLst>
              <a:gd name="adj" fmla="val 18000"/>
            </a:avLst>
          </a:prstGeom>
          <a:solidFill>
            <a:srgbClr val="17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5577840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Pretendard"/>
              </a:rPr>
              <a:t>→  보다 직관적이고 효율적인 출퇴근·근로시간 관리 환경을 위해 N-Click 개발 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Pretendard"/>
              </a:rPr>
              <a:t>02  ·  DAILY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0584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0F172A"/>
                </a:solidFill>
                <a:latin typeface="Pretendard"/>
              </a:rPr>
              <a:t>매일 사용하는 흐름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4748B"/>
                </a:solidFill>
                <a:latin typeface="Pretendard"/>
              </a:rPr>
              <a:t>아래 4단계만 알면 충분합니다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2560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4A3B8"/>
                </a:solidFill>
                <a:latin typeface="Pretendard"/>
              </a:rPr>
              <a:t>03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4A3B8"/>
                </a:solidFill>
                <a:latin typeface="Pretendard"/>
              </a:rPr>
              <a:t>N-Click  ·  Quick Guide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43200"/>
            <a:ext cx="2560320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2743200"/>
            <a:ext cx="2560320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600200" y="3154680"/>
            <a:ext cx="640080" cy="6400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600200" y="315468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02336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0F172A"/>
                </a:solidFill>
                <a:latin typeface="Pretendard"/>
              </a:rPr>
              <a:t>로그인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72000"/>
            <a:ext cx="20116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5000"/>
              </a:lnSpc>
            </a:pPr>
            <a:r>
              <a:rPr sz="1200" b="0">
                <a:solidFill>
                  <a:srgbClr val="64748B"/>
                </a:solidFill>
                <a:latin typeface="Pretendard"/>
              </a:rPr>
              <a:t>회사 Google 계정으로</a:t>
            </a:r>
          </a:p>
          <a:p>
            <a:pPr algn="ctr">
              <a:lnSpc>
                <a:spcPct val="145000"/>
              </a:lnSpc>
            </a:pPr>
            <a:r>
              <a:rPr sz="1200" b="0">
                <a:solidFill>
                  <a:srgbClr val="64748B"/>
                </a:solidFill>
                <a:latin typeface="Pretendard"/>
              </a:rPr>
              <a:t>한 번만 로그인 (30일 유지)</a:t>
            </a:r>
          </a:p>
        </p:txBody>
      </p:sp>
      <p:sp>
        <p:nvSpPr>
          <p:cNvPr id="14" name="Oval 13"/>
          <p:cNvSpPr/>
          <p:nvPr/>
        </p:nvSpPr>
        <p:spPr>
          <a:xfrm>
            <a:off x="3255264" y="4251960"/>
            <a:ext cx="118872" cy="118872"/>
          </a:xfrm>
          <a:prstGeom prst="ellipse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429000" y="2743200"/>
            <a:ext cx="2560320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429000" y="2743200"/>
            <a:ext cx="2560320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389120" y="315468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89120" y="315468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402336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0F172A"/>
                </a:solidFill>
                <a:latin typeface="Pretendard"/>
              </a:rPr>
              <a:t>출근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4572000"/>
            <a:ext cx="20116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5000"/>
              </a:lnSpc>
            </a:pPr>
            <a:r>
              <a:rPr sz="1200" b="0">
                <a:solidFill>
                  <a:srgbClr val="64748B"/>
                </a:solidFill>
                <a:latin typeface="Pretendard"/>
              </a:rPr>
              <a:t>메인 화면 본인 카드에서</a:t>
            </a:r>
          </a:p>
          <a:p>
            <a:pPr algn="ctr">
              <a:lnSpc>
                <a:spcPct val="145000"/>
              </a:lnSpc>
            </a:pPr>
            <a:r>
              <a:rPr sz="1200" b="0">
                <a:solidFill>
                  <a:srgbClr val="64748B"/>
                </a:solidFill>
                <a:latin typeface="Pretendard"/>
              </a:rPr>
              <a:t>출근 버튼 클릭</a:t>
            </a:r>
          </a:p>
        </p:txBody>
      </p:sp>
      <p:sp>
        <p:nvSpPr>
          <p:cNvPr id="21" name="Oval 20"/>
          <p:cNvSpPr/>
          <p:nvPr/>
        </p:nvSpPr>
        <p:spPr>
          <a:xfrm>
            <a:off x="6044184" y="4251960"/>
            <a:ext cx="118872" cy="118872"/>
          </a:xfrm>
          <a:prstGeom prst="ellipse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217920" y="2743200"/>
            <a:ext cx="2560320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17920" y="2743200"/>
            <a:ext cx="256032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178040" y="315468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78040" y="315468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402336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0F172A"/>
                </a:solidFill>
                <a:latin typeface="Pretendard"/>
              </a:rPr>
              <a:t>휴게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572000"/>
            <a:ext cx="20116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5000"/>
              </a:lnSpc>
            </a:pPr>
            <a:r>
              <a:rPr sz="1200" b="0">
                <a:solidFill>
                  <a:srgbClr val="64748B"/>
                </a:solidFill>
                <a:latin typeface="Pretendard"/>
              </a:rPr>
              <a:t>휴게 버튼 클릭 시 시작</a:t>
            </a:r>
          </a:p>
          <a:p>
            <a:pPr algn="ctr">
              <a:lnSpc>
                <a:spcPct val="145000"/>
              </a:lnSpc>
            </a:pPr>
            <a:r>
              <a:rPr sz="1200" b="0">
                <a:solidFill>
                  <a:srgbClr val="64748B"/>
                </a:solidFill>
                <a:latin typeface="Pretendard"/>
              </a:rPr>
              <a:t>→ 돌아오면 종료</a:t>
            </a:r>
          </a:p>
        </p:txBody>
      </p:sp>
      <p:sp>
        <p:nvSpPr>
          <p:cNvPr id="28" name="Oval 27"/>
          <p:cNvSpPr/>
          <p:nvPr/>
        </p:nvSpPr>
        <p:spPr>
          <a:xfrm>
            <a:off x="8833104" y="4251960"/>
            <a:ext cx="118872" cy="118872"/>
          </a:xfrm>
          <a:prstGeom prst="ellipse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006840" y="2743200"/>
            <a:ext cx="2560320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006840" y="2743200"/>
            <a:ext cx="2560320" cy="7315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9966960" y="3154680"/>
            <a:ext cx="640080" cy="6400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966960" y="315468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6840" y="402336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0F172A"/>
                </a:solidFill>
                <a:latin typeface="Pretendard"/>
              </a:rPr>
              <a:t>퇴근 + 바로가기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1160" y="4572000"/>
            <a:ext cx="20116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5000"/>
              </a:lnSpc>
            </a:pPr>
            <a:r>
              <a:rPr sz="1200" b="0">
                <a:solidFill>
                  <a:srgbClr val="64748B"/>
                </a:solidFill>
                <a:latin typeface="Pretendard"/>
              </a:rPr>
              <a:t>퇴근보고 작성 → EW상신 화면</a:t>
            </a:r>
          </a:p>
          <a:p>
            <a:pPr algn="ctr">
              <a:lnSpc>
                <a:spcPct val="145000"/>
              </a:lnSpc>
            </a:pPr>
            <a:r>
              <a:rPr sz="1200" b="0">
                <a:solidFill>
                  <a:srgbClr val="64748B"/>
                </a:solidFill>
                <a:latin typeface="Pretendard"/>
              </a:rPr>
              <a:t>자동 복사 + 바로 이동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Pretendard"/>
              </a:rPr>
              <a:t>💡  퇴근보고 끝나면 EW상신 / 휴가상신 페이지로 자동 연결 — 클릭 한 번 절약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Pretendard"/>
              </a:rPr>
              <a:t>03  ·  ONBOARDING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0584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0F172A"/>
                </a:solidFill>
                <a:latin typeface="Pretendard"/>
              </a:rPr>
              <a:t>첫 로그인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4748B"/>
                </a:solidFill>
                <a:latin typeface="Pretendard"/>
              </a:rPr>
              <a:t>Google 계정 한 번이면 끝, 30일 자동 유지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2560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4A3B8"/>
                </a:solidFill>
                <a:latin typeface="Pretendard"/>
              </a:rPr>
              <a:t>04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4A3B8"/>
                </a:solidFill>
                <a:latin typeface="Pretendard"/>
              </a:rPr>
              <a:t>N-Click  ·  Quick Guide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761488"/>
            <a:ext cx="457200" cy="4572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76148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E40AF"/>
                </a:solidFill>
                <a:latin typeface="Pretendar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5176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172A"/>
                </a:solidFill>
                <a:latin typeface="Pretendard"/>
              </a:rPr>
              <a:t>N-Click 주소 접속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97180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Pretendard"/>
              </a:rPr>
              <a:t>ewassistant.vercel.app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474720"/>
            <a:ext cx="457200" cy="4572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34747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E40AF"/>
                </a:solidFill>
                <a:latin typeface="Pretendar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364992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172A"/>
                </a:solidFill>
                <a:latin typeface="Pretendard"/>
              </a:rPr>
              <a:t>Google 계정으로 로그인 클릭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685032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Pretendard"/>
              </a:rPr>
              <a:t>회사 메일 사용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187952"/>
            <a:ext cx="457200" cy="4572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18795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E40AF"/>
                </a:solidFill>
                <a:latin typeface="Pretendard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078224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172A"/>
                </a:solidFill>
                <a:latin typeface="Pretendard"/>
              </a:rPr>
              <a:t>회사 메일 계정 선택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398264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Pretendard"/>
              </a:rPr>
              <a:t>권한 화면 그대로 진행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4901184"/>
            <a:ext cx="457200" cy="4572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490118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E40AF"/>
                </a:solidFill>
                <a:latin typeface="Pretendard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791456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172A"/>
                </a:solidFill>
                <a:latin typeface="Pretendard"/>
              </a:rPr>
              <a:t>이름 입력 + 약관/개인정보 동의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111496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Pretendard"/>
              </a:rPr>
              <a:t>최초 1회만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" y="5614416"/>
            <a:ext cx="457200" cy="4572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561441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E40AF"/>
                </a:solidFill>
                <a:latin typeface="Pretendard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504688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172A"/>
                </a:solidFill>
                <a:latin typeface="Pretendard"/>
              </a:rPr>
              <a:t>관리자 승인 대기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5824728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Pretendard"/>
              </a:rPr>
              <a:t>신규 계정에 한함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49440" y="2606040"/>
            <a:ext cx="4617720" cy="36576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961120" y="3108960"/>
            <a:ext cx="594360" cy="594360"/>
          </a:xfrm>
          <a:prstGeom prst="roundRect">
            <a:avLst>
              <a:gd name="adj" fmla="val 22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961120" y="310896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Pretendard"/>
              </a:rPr>
              <a:t>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840480"/>
            <a:ext cx="4617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0F172A"/>
                </a:solidFill>
                <a:latin typeface="Pretendard"/>
              </a:rPr>
              <a:t>N-Click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4297680"/>
            <a:ext cx="4617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Pretendard"/>
              </a:rPr>
              <a:t>출퇴근보고 시스템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89520" y="5029200"/>
            <a:ext cx="3337560" cy="6400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589520" y="5029200"/>
            <a:ext cx="33375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0F172A"/>
                </a:solidFill>
                <a:latin typeface="Pretendard"/>
              </a:rPr>
              <a:t>🔐    Google 계정으로 로그인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Pretendard"/>
              </a:rPr>
              <a:t>04  · 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0584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0F172A"/>
                </a:solidFill>
                <a:latin typeface="Pretendard"/>
              </a:rPr>
              <a:t>메인 화면 — 상태 둘러보기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4748B"/>
                </a:solidFill>
                <a:latin typeface="Pretendard"/>
              </a:rPr>
              <a:t>팀원 모두의 출퇴근 상태를 한 화면에서 확인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2560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4A3B8"/>
                </a:solidFill>
                <a:latin typeface="Pretendard"/>
              </a:rPr>
              <a:t>05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4A3B8"/>
                </a:solidFill>
                <a:latin typeface="Pretendard"/>
              </a:rPr>
              <a:t>N-Click  ·  Quick Guide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68880"/>
            <a:ext cx="10927080" cy="3566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2468880"/>
            <a:ext cx="10927080" cy="5029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68680" y="2587752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58775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Pretendard"/>
              </a:rPr>
              <a:t>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5877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F172A"/>
                </a:solidFill>
                <a:latin typeface="Pretendard"/>
              </a:rPr>
              <a:t>N-Click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25877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Pretendard"/>
              </a:rPr>
              <a:t>상태 둘러보기   ·   My Page   ·   전체 제출 내역   ·   EW 바로가기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1546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172A"/>
                </a:solidFill>
                <a:latin typeface="Pretendard"/>
              </a:rPr>
              <a:t>팀 상태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4747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Pretendard"/>
              </a:rPr>
              <a:t>📅 2026-05-06   ·   HR임팩트본부 / 마이스팀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3886200"/>
            <a:ext cx="2468880" cy="1965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05840" y="3886200"/>
            <a:ext cx="64008" cy="19659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234440" y="4069080"/>
            <a:ext cx="411480" cy="4114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34440" y="406908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E40AF"/>
                </a:solidFill>
                <a:latin typeface="Pretendard"/>
              </a:rPr>
              <a:t>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405079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F172A"/>
                </a:solidFill>
                <a:latin typeface="Pretendard"/>
              </a:rPr>
              <a:t>김민재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80359" y="4087368"/>
            <a:ext cx="411480" cy="2286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880359" y="4087368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>
                <a:solidFill>
                  <a:srgbClr val="1E40AF"/>
                </a:solidFill>
                <a:latin typeface="Pretendard"/>
              </a:rPr>
              <a:t>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297680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Pretendard"/>
              </a:rPr>
              <a:t>마이스팀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34440" y="466344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234440" y="4724945"/>
            <a:ext cx="2011680" cy="1695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dirty="0" err="1">
                <a:solidFill>
                  <a:srgbClr val="2563EB"/>
                </a:solidFill>
                <a:latin typeface="Pretendard"/>
              </a:rPr>
              <a:t>출근</a:t>
            </a:r>
            <a:r>
              <a:rPr lang="ko-KR" altLang="en-US" sz="1000" b="1" dirty="0">
                <a:solidFill>
                  <a:srgbClr val="2563EB"/>
                </a:solidFill>
                <a:latin typeface="Pretendard"/>
              </a:rPr>
              <a:t>보고 완료</a:t>
            </a:r>
            <a:endParaRPr sz="1000" b="1" dirty="0">
              <a:solidFill>
                <a:srgbClr val="2563EB"/>
              </a:solidFill>
              <a:latin typeface="Pretendard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234440" y="507492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Pretendard"/>
              </a:rPr>
              <a:t>🕒  출근  09:00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530352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Pretendard"/>
              </a:rPr>
              <a:t>🕒  퇴근  18:00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553212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Pretendard"/>
              </a:rPr>
              <a:t>📍  ★ 사무실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11880" y="3886200"/>
            <a:ext cx="2468880" cy="1965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611880" y="3886200"/>
            <a:ext cx="64008" cy="1965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3840480" y="4069080"/>
            <a:ext cx="411480" cy="4114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840480" y="406908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E40AF"/>
                </a:solidFill>
                <a:latin typeface="Pretendard"/>
              </a:rPr>
              <a:t>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43400" y="405079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F172A"/>
                </a:solidFill>
                <a:latin typeface="Pretendard"/>
              </a:rPr>
              <a:t>김주영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4297680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Pretendard"/>
              </a:rPr>
              <a:t>마이스팀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840480" y="466344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840480" y="4663440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10B981"/>
                </a:solidFill>
                <a:latin typeface="Pretendard"/>
              </a:rPr>
              <a:t>근무 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0" y="507492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Pretendard"/>
              </a:rPr>
              <a:t>🕒  출근  09:00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0" y="530352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Pretendard"/>
              </a:rPr>
              <a:t>🕒  퇴근  18:00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0" y="553212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Pretendard"/>
              </a:rPr>
              <a:t>📍  ★ 사무실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3886200"/>
            <a:ext cx="2468880" cy="1965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217920" y="3886200"/>
            <a:ext cx="64008" cy="19659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6446520" y="4069080"/>
            <a:ext cx="411480" cy="4114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46520" y="406908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E40AF"/>
                </a:solidFill>
                <a:latin typeface="Pretendard"/>
              </a:rPr>
              <a:t>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405079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F172A"/>
                </a:solidFill>
                <a:latin typeface="Pretendard"/>
              </a:rPr>
              <a:t>이수진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9440" y="4297680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Pretendard"/>
              </a:rPr>
              <a:t>마이스팀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46520" y="466344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46520" y="4663440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59E0B"/>
                </a:solidFill>
                <a:latin typeface="Pretendard"/>
              </a:rPr>
              <a:t>휴게 중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46520" y="507492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Pretendard"/>
              </a:rPr>
              <a:t>🕒  출근  09:00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530352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Pretendard"/>
              </a:rPr>
              <a:t>🕒  퇴근  18:00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46520" y="553212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Pretendard"/>
              </a:rPr>
              <a:t>📍  ★ 사무실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823960" y="3886200"/>
            <a:ext cx="2468880" cy="1965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8823960" y="3886200"/>
            <a:ext cx="64008" cy="196596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9052560" y="4069080"/>
            <a:ext cx="411480" cy="4114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052560" y="406908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E40AF"/>
                </a:solidFill>
                <a:latin typeface="Pretendard"/>
              </a:rPr>
              <a:t>박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55480" y="405079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F172A"/>
                </a:solidFill>
                <a:latin typeface="Pretendard"/>
              </a:rPr>
              <a:t>박지호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55480" y="4297680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Pretendard"/>
              </a:rPr>
              <a:t>마이스팀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052560" y="466344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052560" y="4663440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94A3B8"/>
                </a:solidFill>
                <a:latin typeface="Pretendard"/>
              </a:rPr>
              <a:t>미제출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52560" y="507492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Pretendard"/>
              </a:rPr>
              <a:t>🕒  출근  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52560" y="530352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Pretendard"/>
              </a:rPr>
              <a:t>🕒  퇴근  —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52560" y="553212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Pretendard"/>
              </a:rPr>
              <a:t>📍  —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" y="6126480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34155"/>
                </a:solidFill>
                <a:latin typeface="Pretendard"/>
              </a:rPr>
              <a:t>카드 색상</a:t>
            </a:r>
          </a:p>
        </p:txBody>
      </p:sp>
      <p:sp>
        <p:nvSpPr>
          <p:cNvPr id="63" name="Oval 62"/>
          <p:cNvSpPr/>
          <p:nvPr/>
        </p:nvSpPr>
        <p:spPr>
          <a:xfrm>
            <a:off x="1737360" y="6181344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938528" y="6126480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334155"/>
                </a:solidFill>
                <a:latin typeface="Pretendard"/>
              </a:rPr>
              <a:t>근무 중</a:t>
            </a:r>
          </a:p>
        </p:txBody>
      </p:sp>
      <p:sp>
        <p:nvSpPr>
          <p:cNvPr id="65" name="Oval 64"/>
          <p:cNvSpPr/>
          <p:nvPr/>
        </p:nvSpPr>
        <p:spPr>
          <a:xfrm>
            <a:off x="3977640" y="6181344"/>
            <a:ext cx="128016" cy="12801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178808" y="6126480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334155"/>
                </a:solidFill>
                <a:latin typeface="Pretendard"/>
              </a:rPr>
              <a:t>출근완료 대기</a:t>
            </a:r>
          </a:p>
        </p:txBody>
      </p:sp>
      <p:sp>
        <p:nvSpPr>
          <p:cNvPr id="67" name="Oval 66"/>
          <p:cNvSpPr/>
          <p:nvPr/>
        </p:nvSpPr>
        <p:spPr>
          <a:xfrm>
            <a:off x="6217920" y="6181344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419088" y="6126480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334155"/>
                </a:solidFill>
                <a:latin typeface="Pretendard"/>
              </a:rPr>
              <a:t>휴게 중</a:t>
            </a:r>
          </a:p>
        </p:txBody>
      </p:sp>
      <p:sp>
        <p:nvSpPr>
          <p:cNvPr id="69" name="Oval 68"/>
          <p:cNvSpPr/>
          <p:nvPr/>
        </p:nvSpPr>
        <p:spPr>
          <a:xfrm>
            <a:off x="8458200" y="6181344"/>
            <a:ext cx="128016" cy="128016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659368" y="6126480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334155"/>
                </a:solidFill>
                <a:latin typeface="Pretendard"/>
              </a:rPr>
              <a:t>미제출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Pretendard"/>
              </a:rPr>
              <a:t>05  ·  CHECK-IN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0584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dirty="0" err="1">
                <a:solidFill>
                  <a:srgbClr val="0F172A"/>
                </a:solidFill>
                <a:latin typeface="Pretendard"/>
              </a:rPr>
              <a:t>출근하기</a:t>
            </a:r>
            <a:endParaRPr sz="3400" b="1" dirty="0">
              <a:solidFill>
                <a:srgbClr val="0F172A"/>
              </a:solidFill>
              <a:latin typeface="Pretendar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4748B"/>
                </a:solidFill>
                <a:latin typeface="Pretendard"/>
              </a:rPr>
              <a:t>출근보고(예정) → 출근완료(실제) 2단 흐름. 즉시 보고 가능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2560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4A3B8"/>
                </a:solidFill>
                <a:latin typeface="Pretendard"/>
              </a:rPr>
              <a:t>06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4A3B8"/>
                </a:solidFill>
                <a:latin typeface="Pretendard"/>
              </a:rPr>
              <a:t>N-Click  ·  Quick Guide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0604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60604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1E40AF"/>
                </a:solidFill>
                <a:latin typeface="Pretendard"/>
              </a:rPr>
              <a:t>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60604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0F172A"/>
                </a:solidFill>
                <a:latin typeface="Pretendard"/>
              </a:rPr>
              <a:t>출근보고로</a:t>
            </a:r>
            <a:r>
              <a:rPr sz="1400" b="1" dirty="0">
                <a:solidFill>
                  <a:srgbClr val="0F172A"/>
                </a:solidFill>
                <a:latin typeface="Pretendard"/>
              </a:rPr>
              <a:t> </a:t>
            </a:r>
            <a:r>
              <a:rPr sz="1400" b="1" dirty="0" err="1">
                <a:solidFill>
                  <a:srgbClr val="0F172A"/>
                </a:solidFill>
                <a:latin typeface="Pretendard"/>
              </a:rPr>
              <a:t>예정</a:t>
            </a:r>
            <a:r>
              <a:rPr sz="1400" b="1" dirty="0">
                <a:solidFill>
                  <a:srgbClr val="0F172A"/>
                </a:solidFill>
                <a:latin typeface="Pretendard"/>
              </a:rPr>
              <a:t> </a:t>
            </a:r>
            <a:r>
              <a:rPr sz="1400" b="1" dirty="0" err="1">
                <a:solidFill>
                  <a:srgbClr val="0F172A"/>
                </a:solidFill>
                <a:latin typeface="Pretendard"/>
              </a:rPr>
              <a:t>등록</a:t>
            </a:r>
            <a:r>
              <a:rPr sz="1400" b="1" dirty="0">
                <a:solidFill>
                  <a:srgbClr val="0F172A"/>
                </a:solidFill>
                <a:latin typeface="Pretendard"/>
              </a:rPr>
              <a:t> → </a:t>
            </a:r>
            <a:r>
              <a:rPr sz="1400" b="1" dirty="0" err="1">
                <a:solidFill>
                  <a:srgbClr val="0F172A"/>
                </a:solidFill>
                <a:latin typeface="Pretendard"/>
              </a:rPr>
              <a:t>출근완료로</a:t>
            </a:r>
            <a:r>
              <a:rPr sz="1400" b="1" dirty="0">
                <a:solidFill>
                  <a:srgbClr val="0F172A"/>
                </a:solidFill>
                <a:latin typeface="Pretendard"/>
              </a:rPr>
              <a:t> </a:t>
            </a:r>
            <a:r>
              <a:rPr sz="1400" b="1" dirty="0" err="1">
                <a:solidFill>
                  <a:srgbClr val="0F172A"/>
                </a:solidFill>
                <a:latin typeface="Pretendard"/>
              </a:rPr>
              <a:t>실제</a:t>
            </a:r>
            <a:r>
              <a:rPr sz="1400" b="1" dirty="0">
                <a:solidFill>
                  <a:srgbClr val="0F172A"/>
                </a:solidFill>
                <a:latin typeface="Pretendard"/>
              </a:rPr>
              <a:t> </a:t>
            </a:r>
            <a:r>
              <a:rPr sz="1400" b="1" dirty="0" err="1">
                <a:solidFill>
                  <a:srgbClr val="0F172A"/>
                </a:solidFill>
                <a:latin typeface="Pretendard"/>
              </a:rPr>
              <a:t>시각</a:t>
            </a:r>
            <a:r>
              <a:rPr sz="1400" b="1" dirty="0">
                <a:solidFill>
                  <a:srgbClr val="0F172A"/>
                </a:solidFill>
                <a:latin typeface="Pretendard"/>
              </a:rPr>
              <a:t> </a:t>
            </a:r>
            <a:r>
              <a:rPr sz="1400" b="1" dirty="0" err="1">
                <a:solidFill>
                  <a:srgbClr val="0F172A"/>
                </a:solidFill>
                <a:latin typeface="Pretendard"/>
              </a:rPr>
              <a:t>확정</a:t>
            </a:r>
            <a:endParaRPr sz="1400" b="1" dirty="0">
              <a:solidFill>
                <a:srgbClr val="0F172A"/>
              </a:solidFill>
              <a:latin typeface="Pretendar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325880" y="2953512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dirty="0">
                <a:solidFill>
                  <a:srgbClr val="64748B"/>
                </a:solidFill>
                <a:latin typeface="Pretendard"/>
              </a:rPr>
              <a:t>두 </a:t>
            </a:r>
            <a:r>
              <a:rPr sz="1100" b="0" dirty="0" err="1">
                <a:solidFill>
                  <a:srgbClr val="64748B"/>
                </a:solidFill>
                <a:latin typeface="Pretendard"/>
              </a:rPr>
              <a:t>단계</a:t>
            </a:r>
            <a:r>
              <a:rPr sz="1100" b="0" dirty="0">
                <a:solidFill>
                  <a:srgbClr val="64748B"/>
                </a:solidFill>
                <a:latin typeface="Pretendard"/>
              </a:rPr>
              <a:t> </a:t>
            </a:r>
            <a:r>
              <a:rPr sz="1100" b="0" dirty="0" err="1">
                <a:solidFill>
                  <a:srgbClr val="64748B"/>
                </a:solidFill>
                <a:latin typeface="Pretendard"/>
              </a:rPr>
              <a:t>모두</a:t>
            </a:r>
            <a:r>
              <a:rPr sz="1100" b="0" dirty="0">
                <a:solidFill>
                  <a:srgbClr val="64748B"/>
                </a:solidFill>
                <a:latin typeface="Pretendard"/>
              </a:rPr>
              <a:t> 30분 </a:t>
            </a:r>
            <a:r>
              <a:rPr sz="1100" b="0" dirty="0" err="1">
                <a:solidFill>
                  <a:srgbClr val="64748B"/>
                </a:solidFill>
                <a:latin typeface="Pretendard"/>
              </a:rPr>
              <a:t>단위</a:t>
            </a:r>
            <a:r>
              <a:rPr sz="1100" b="0" dirty="0">
                <a:solidFill>
                  <a:srgbClr val="64748B"/>
                </a:solidFill>
                <a:latin typeface="Pretendard"/>
              </a:rPr>
              <a:t> </a:t>
            </a:r>
            <a:r>
              <a:rPr sz="1100" b="0" dirty="0" err="1">
                <a:solidFill>
                  <a:srgbClr val="64748B"/>
                </a:solidFill>
                <a:latin typeface="Pretendard"/>
              </a:rPr>
              <a:t>수정</a:t>
            </a:r>
            <a:r>
              <a:rPr sz="1100" b="0" dirty="0">
                <a:solidFill>
                  <a:srgbClr val="64748B"/>
                </a:solidFill>
                <a:latin typeface="Pretendard"/>
              </a:rPr>
              <a:t> </a:t>
            </a:r>
            <a:r>
              <a:rPr sz="1100" b="0" dirty="0" err="1">
                <a:solidFill>
                  <a:srgbClr val="64748B"/>
                </a:solidFill>
                <a:latin typeface="Pretendard"/>
              </a:rPr>
              <a:t>가능</a:t>
            </a:r>
            <a:endParaRPr sz="1100" b="0" dirty="0">
              <a:solidFill>
                <a:srgbClr val="64748B"/>
              </a:solidFill>
              <a:latin typeface="Pretendard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40080" y="347472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34747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1E40AF"/>
                </a:solidFill>
                <a:latin typeface="Pretendard"/>
              </a:rPr>
              <a:t>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47472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0F172A"/>
                </a:solidFill>
                <a:latin typeface="Pretendard"/>
              </a:rPr>
              <a:t>근무지</a:t>
            </a:r>
            <a:r>
              <a:rPr sz="1400" b="1" dirty="0">
                <a:solidFill>
                  <a:srgbClr val="0F172A"/>
                </a:solidFill>
                <a:latin typeface="Pretendard"/>
              </a:rPr>
              <a:t> 칩 — </a:t>
            </a:r>
            <a:r>
              <a:rPr sz="1400" b="1" dirty="0" err="1">
                <a:solidFill>
                  <a:srgbClr val="0F172A"/>
                </a:solidFill>
                <a:latin typeface="Pretendard"/>
              </a:rPr>
              <a:t>사무실</a:t>
            </a:r>
            <a:r>
              <a:rPr sz="1400" b="1" dirty="0">
                <a:solidFill>
                  <a:srgbClr val="0F172A"/>
                </a:solidFill>
                <a:latin typeface="Pretendard"/>
              </a:rPr>
              <a:t> / </a:t>
            </a:r>
            <a:r>
              <a:rPr sz="1400" b="1" dirty="0" err="1">
                <a:solidFill>
                  <a:srgbClr val="0F172A"/>
                </a:solidFill>
                <a:latin typeface="Pretendard"/>
              </a:rPr>
              <a:t>재택</a:t>
            </a:r>
            <a:r>
              <a:rPr sz="1400" b="1" dirty="0">
                <a:solidFill>
                  <a:srgbClr val="0F172A"/>
                </a:solidFill>
                <a:latin typeface="Pretendard"/>
              </a:rPr>
              <a:t> / </a:t>
            </a:r>
            <a:r>
              <a:rPr sz="1400" b="1" dirty="0" err="1">
                <a:solidFill>
                  <a:srgbClr val="0F172A"/>
                </a:solidFill>
                <a:latin typeface="Pretendard"/>
              </a:rPr>
              <a:t>외근</a:t>
            </a:r>
            <a:r>
              <a:rPr sz="1400" b="1" dirty="0">
                <a:solidFill>
                  <a:srgbClr val="0F172A"/>
                </a:solidFill>
                <a:latin typeface="Pretendard"/>
              </a:rPr>
              <a:t> / </a:t>
            </a:r>
            <a:r>
              <a:rPr sz="1400" b="1" dirty="0" err="1">
                <a:solidFill>
                  <a:srgbClr val="0F172A"/>
                </a:solidFill>
                <a:latin typeface="Pretendard"/>
              </a:rPr>
              <a:t>기타</a:t>
            </a:r>
            <a:endParaRPr sz="1400" b="1" dirty="0">
              <a:solidFill>
                <a:srgbClr val="0F172A"/>
              </a:solidFill>
              <a:latin typeface="Pretendar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325880" y="3822192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dirty="0">
                <a:solidFill>
                  <a:srgbClr val="64748B"/>
                </a:solidFill>
                <a:latin typeface="Pretendard"/>
              </a:rPr>
              <a:t>한 줄 </a:t>
            </a:r>
            <a:r>
              <a:rPr sz="1100" b="0" dirty="0" err="1">
                <a:solidFill>
                  <a:srgbClr val="64748B"/>
                </a:solidFill>
                <a:latin typeface="Pretendard"/>
              </a:rPr>
              <a:t>추가</a:t>
            </a:r>
            <a:r>
              <a:rPr sz="1100" b="0" dirty="0">
                <a:solidFill>
                  <a:srgbClr val="64748B"/>
                </a:solidFill>
                <a:latin typeface="Pretendard"/>
              </a:rPr>
              <a:t> + ★로 </a:t>
            </a:r>
            <a:r>
              <a:rPr sz="1100" b="0" dirty="0" err="1">
                <a:solidFill>
                  <a:srgbClr val="64748B"/>
                </a:solidFill>
                <a:latin typeface="Pretendard"/>
              </a:rPr>
              <a:t>현재</a:t>
            </a:r>
            <a:r>
              <a:rPr sz="1100" b="0" dirty="0">
                <a:solidFill>
                  <a:srgbClr val="64748B"/>
                </a:solidFill>
                <a:latin typeface="Pretendard"/>
              </a:rPr>
              <a:t> </a:t>
            </a:r>
            <a:r>
              <a:rPr sz="1100" b="0" dirty="0" err="1">
                <a:solidFill>
                  <a:srgbClr val="64748B"/>
                </a:solidFill>
                <a:latin typeface="Pretendard"/>
              </a:rPr>
              <a:t>위치</a:t>
            </a:r>
            <a:r>
              <a:rPr sz="1100" b="0" dirty="0">
                <a:solidFill>
                  <a:srgbClr val="64748B"/>
                </a:solidFill>
                <a:latin typeface="Pretendard"/>
              </a:rPr>
              <a:t> </a:t>
            </a:r>
            <a:r>
              <a:rPr sz="1100" b="0" dirty="0" err="1">
                <a:solidFill>
                  <a:srgbClr val="64748B"/>
                </a:solidFill>
                <a:latin typeface="Pretendard"/>
              </a:rPr>
              <a:t>마커</a:t>
            </a:r>
            <a:endParaRPr sz="1100" b="0" dirty="0">
              <a:solidFill>
                <a:srgbClr val="64748B"/>
              </a:solidFill>
              <a:latin typeface="Pretendard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40080" y="434340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3434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1E40AF"/>
                </a:solidFill>
                <a:latin typeface="Pretendard"/>
              </a:rPr>
              <a:t>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343400"/>
            <a:ext cx="5120640" cy="2374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1400" b="1" dirty="0">
                <a:solidFill>
                  <a:srgbClr val="0F172A"/>
                </a:solidFill>
                <a:latin typeface="Pretendard"/>
              </a:rPr>
              <a:t>매일 출근 보고 리마인드 알림 발송</a:t>
            </a:r>
            <a:endParaRPr sz="1400" b="1" dirty="0">
              <a:solidFill>
                <a:srgbClr val="0F172A"/>
              </a:solidFill>
              <a:latin typeface="Pretendard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325880" y="4690872"/>
            <a:ext cx="5120640" cy="186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1100" b="0" dirty="0" err="1">
                <a:solidFill>
                  <a:srgbClr val="64748B"/>
                </a:solidFill>
                <a:latin typeface="Pretendard"/>
              </a:rPr>
              <a:t>미보고</a:t>
            </a:r>
            <a:r>
              <a:rPr lang="ko-KR" altLang="en-US" sz="1100" b="0" dirty="0">
                <a:solidFill>
                  <a:srgbClr val="64748B"/>
                </a:solidFill>
                <a:latin typeface="Pretendard"/>
              </a:rPr>
              <a:t> 시 알림 발송</a:t>
            </a:r>
            <a:endParaRPr sz="1100" b="0" dirty="0">
              <a:solidFill>
                <a:srgbClr val="64748B"/>
              </a:solidFill>
              <a:latin typeface="Pretendard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40080" y="521208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521208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1E40AF"/>
                </a:solidFill>
                <a:latin typeface="Pretendard"/>
              </a:rPr>
              <a:t>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21208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F172A"/>
                </a:solidFill>
                <a:latin typeface="Pretendard"/>
              </a:rPr>
              <a:t>출근 즉시 Teams에 알림 발송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5559552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Pretendard"/>
              </a:rPr>
              <a:t>팀원에게도 자동 공유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40880" y="2468880"/>
            <a:ext cx="4526280" cy="3840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040880" y="2468880"/>
            <a:ext cx="73152" cy="38404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406640" y="2834640"/>
            <a:ext cx="548640" cy="54864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06640" y="28346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1E40AF"/>
                </a:solidFill>
                <a:latin typeface="Pretendard"/>
              </a:rPr>
              <a:t>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2852928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0F172A"/>
                </a:solidFill>
                <a:latin typeface="Pretendard"/>
              </a:rPr>
              <a:t>김민재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35440" y="292608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235440" y="29260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1E40AF"/>
                </a:solidFill>
                <a:latin typeface="Pretendard"/>
              </a:rPr>
              <a:t>나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06640" y="3566160"/>
            <a:ext cx="3794760" cy="36576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406640" y="3566160"/>
            <a:ext cx="3794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10B981"/>
                </a:solidFill>
                <a:latin typeface="Pretendard"/>
              </a:rPr>
              <a:t>근무 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4160520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4155"/>
                </a:solidFill>
                <a:latin typeface="Pretendard"/>
              </a:rPr>
              <a:t>🕒  출근  09:00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4480560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4155"/>
                </a:solidFill>
                <a:latin typeface="Pretendard"/>
              </a:rPr>
              <a:t>🕒  퇴근  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4800600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4155"/>
                </a:solidFill>
                <a:latin typeface="Pretendard"/>
              </a:rPr>
              <a:t>📍  ★ 사무실 → 재택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06640" y="5349240"/>
            <a:ext cx="1203960" cy="502920"/>
          </a:xfrm>
          <a:prstGeom prst="roundRect">
            <a:avLst>
              <a:gd name="adj" fmla="val 18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406640" y="5349240"/>
            <a:ext cx="12039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10B981"/>
                </a:solidFill>
                <a:latin typeface="Pretendard"/>
              </a:rPr>
              <a:t>✓ 출근완료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702040" y="5349240"/>
            <a:ext cx="1203960" cy="502920"/>
          </a:xfrm>
          <a:prstGeom prst="roundRect">
            <a:avLst>
              <a:gd name="adj" fmla="val 18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702040" y="5349240"/>
            <a:ext cx="12039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59E0B"/>
                </a:solidFill>
                <a:latin typeface="Pretendard"/>
              </a:rPr>
              <a:t>☕ 휴게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997440" y="5349240"/>
            <a:ext cx="1203960" cy="502920"/>
          </a:xfrm>
          <a:prstGeom prst="roundRect">
            <a:avLst>
              <a:gd name="adj" fmla="val 18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997440" y="5349240"/>
            <a:ext cx="12039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Pretendard"/>
              </a:rPr>
              <a:t>📋 퇴근보고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Pretendard"/>
              </a:rPr>
              <a:t>06  ·  BREAK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0584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0F172A"/>
                </a:solidFill>
                <a:latin typeface="Pretendard"/>
              </a:rPr>
              <a:t>자리비움 / 휴게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4748B"/>
                </a:solidFill>
                <a:latin typeface="Pretendard"/>
              </a:rPr>
              <a:t>점심이나 잠깐 자리 비울 때 — 휴게시간 자동 기록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2560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4A3B8"/>
                </a:solidFill>
                <a:latin typeface="Pretendard"/>
              </a:rPr>
              <a:t>07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4A3B8"/>
                </a:solidFill>
                <a:latin typeface="Pretendard"/>
              </a:rPr>
              <a:t>N-Click  ·  Quick Guide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43200"/>
            <a:ext cx="338328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828800" y="3108960"/>
            <a:ext cx="1005840" cy="100584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108960"/>
            <a:ext cx="338328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4200" b="0">
                <a:solidFill>
                  <a:srgbClr val="F59E0B"/>
                </a:solidFill>
                <a:latin typeface="Pretendard"/>
              </a:rPr>
              <a:t>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51960"/>
            <a:ext cx="3383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0F172A"/>
                </a:solidFill>
                <a:latin typeface="Pretendard"/>
              </a:rPr>
              <a:t>휴게 시작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6344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Pretendard"/>
              </a:rPr>
              <a:t>버튼 클릭</a:t>
            </a:r>
          </a:p>
        </p:txBody>
      </p:sp>
      <p:sp>
        <p:nvSpPr>
          <p:cNvPr id="13" name="Oval 12"/>
          <p:cNvSpPr/>
          <p:nvPr/>
        </p:nvSpPr>
        <p:spPr>
          <a:xfrm>
            <a:off x="4114800" y="3840480"/>
            <a:ext cx="137160" cy="137160"/>
          </a:xfrm>
          <a:prstGeom prst="ellipse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343400" y="2743200"/>
            <a:ext cx="338328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532120" y="3108960"/>
            <a:ext cx="1005840" cy="100584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43400" y="3108960"/>
            <a:ext cx="338328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4200" b="0">
                <a:solidFill>
                  <a:srgbClr val="2563EB"/>
                </a:solidFill>
                <a:latin typeface="Pretendard"/>
              </a:rPr>
              <a:t>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4251960"/>
            <a:ext cx="3383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0F172A"/>
                </a:solidFill>
                <a:latin typeface="Pretendard"/>
              </a:rPr>
              <a:t>자리 비움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466344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Pretendard"/>
              </a:rPr>
              <a:t>시간 자동 누적</a:t>
            </a:r>
          </a:p>
        </p:txBody>
      </p:sp>
      <p:sp>
        <p:nvSpPr>
          <p:cNvPr id="19" name="Oval 18"/>
          <p:cNvSpPr/>
          <p:nvPr/>
        </p:nvSpPr>
        <p:spPr>
          <a:xfrm>
            <a:off x="7818120" y="3840480"/>
            <a:ext cx="137160" cy="137160"/>
          </a:xfrm>
          <a:prstGeom prst="ellipse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046720" y="2743200"/>
            <a:ext cx="338328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235440" y="3108960"/>
            <a:ext cx="1005840" cy="1005840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46720" y="3108960"/>
            <a:ext cx="338328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4200" b="0">
                <a:solidFill>
                  <a:srgbClr val="10B981"/>
                </a:solidFill>
                <a:latin typeface="Pretendard"/>
              </a:rPr>
              <a:t>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4251960"/>
            <a:ext cx="3383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0F172A"/>
                </a:solidFill>
                <a:latin typeface="Pretendard"/>
              </a:rPr>
              <a:t>휴게 종료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466344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Pretendard"/>
              </a:rPr>
              <a:t>버튼 클릭 → 복귀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5458968" cy="914400"/>
          </a:xfrm>
          <a:prstGeom prst="roundRect">
            <a:avLst>
              <a:gd name="adj" fmla="val 4000"/>
            </a:avLst>
          </a:prstGeom>
          <a:solidFill>
            <a:srgbClr val="FFFBEB"/>
          </a:solidFill>
          <a:ln w="9525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5650992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59E0B"/>
                </a:solidFill>
                <a:latin typeface="Pretendard"/>
              </a:rPr>
              <a:t>💡  자동 누적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94360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4155"/>
                </a:solidFill>
                <a:latin typeface="Pretendard"/>
              </a:rPr>
              <a:t>자리비운 시간이 퇴근보고의 휴게시간에 자동 누적됩니다.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80" y="5486400"/>
            <a:ext cx="5212080" cy="91440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29400" y="5650992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563EB"/>
                </a:solidFill>
                <a:latin typeface="Pretendard"/>
              </a:rPr>
              <a:t>🍱  점심시간은 별도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594360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4155"/>
                </a:solidFill>
                <a:latin typeface="Pretendard"/>
              </a:rPr>
              <a:t>11:30~13:30은 EW 계산기가 자동 처리 — 따로 입력하지 않아도 OK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Pretendard"/>
              </a:rPr>
              <a:t>07  ·  CHECK-OUT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0584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0F172A"/>
                </a:solidFill>
                <a:latin typeface="Pretendard"/>
              </a:rPr>
              <a:t>퇴근 보고 작성하기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4748B"/>
                </a:solidFill>
                <a:latin typeface="Pretendard"/>
              </a:rPr>
              <a:t>제출과 동시에 EW상신 페이지로 자동 이동 + 텍스트 자동 복사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2560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4A3B8"/>
                </a:solidFill>
                <a:latin typeface="Pretendard"/>
              </a:rPr>
              <a:t>08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4A3B8"/>
                </a:solidFill>
                <a:latin typeface="Pretendard"/>
              </a:rPr>
              <a:t>N-Click  ·  Quick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563EB"/>
                </a:solidFill>
                <a:latin typeface="Pretendard"/>
              </a:rPr>
              <a:t>제출 절차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971800"/>
            <a:ext cx="274320" cy="2743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97180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1E40AF"/>
                </a:solidFill>
                <a:latin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92608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0F172A"/>
                </a:solidFill>
                <a:latin typeface="Pretendard"/>
              </a:rPr>
              <a:t>카드의 "퇴근보고 작성" 클릭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355847"/>
            <a:ext cx="274320" cy="2743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3355847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1E40AF"/>
                </a:solidFill>
                <a:latin typeface="Pretendar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310127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0F172A"/>
                </a:solidFill>
                <a:latin typeface="Pretendard"/>
              </a:rPr>
              <a:t>모달에서 자동 채워진 정보 확인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739895"/>
            <a:ext cx="274320" cy="2743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739895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1E40AF"/>
                </a:solidFill>
                <a:latin typeface="Pretendar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694175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0F172A"/>
                </a:solidFill>
                <a:latin typeface="Pretendard"/>
              </a:rPr>
              <a:t>근무내용 입력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4123944"/>
            <a:ext cx="274320" cy="2743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412394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1E40AF"/>
                </a:solidFill>
                <a:latin typeface="Pretendard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078224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0F172A"/>
                </a:solidFill>
                <a:latin typeface="Pretendard"/>
              </a:rPr>
              <a:t>우측 EW 미리보기 확인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4507991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4507991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462271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0F172A"/>
                </a:solidFill>
                <a:latin typeface="Pretendard"/>
              </a:rPr>
              <a:t>"제출 및 복사하기" 클릭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" y="4892040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489204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484632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0F172A"/>
                </a:solidFill>
                <a:latin typeface="Pretendard"/>
              </a:rPr>
              <a:t>EW상신 페이지 자동 열림 → Ctrl+V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486400"/>
            <a:ext cx="5303520" cy="777240"/>
          </a:xfrm>
          <a:prstGeom prst="roundRect">
            <a:avLst>
              <a:gd name="adj" fmla="val 4000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8680" y="557784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59E0B"/>
                </a:solidFill>
                <a:latin typeface="Pretendard"/>
              </a:rPr>
              <a:t>✨  자동으로 채워지는 항목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852160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334155"/>
                </a:solidFill>
                <a:latin typeface="Pretendard"/>
              </a:rPr>
              <a:t>출퇴근 시각 · 근무지 타임라인 · 휴게시간   ·   30분 단위로 수정 가능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2468880"/>
            <a:ext cx="530352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63640" y="2468880"/>
            <a:ext cx="5303520" cy="5029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37960" y="2468880"/>
            <a:ext cx="53035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F172A"/>
                </a:solidFill>
                <a:latin typeface="Pretendard"/>
              </a:rPr>
              <a:t>퇴근보고 작성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2468880"/>
            <a:ext cx="5074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>
                <a:solidFill>
                  <a:srgbClr val="94A3B8"/>
                </a:solidFill>
                <a:latin typeface="Pretendard"/>
              </a:rPr>
              <a:t>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3154680"/>
            <a:ext cx="1280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Pretendard"/>
              </a:rPr>
              <a:t>근무유형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863840" y="3154680"/>
            <a:ext cx="3611880" cy="292608"/>
          </a:xfrm>
          <a:prstGeom prst="roundRect">
            <a:avLst>
              <a:gd name="adj" fmla="val 18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955280" y="3154680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0F172A"/>
                </a:solidFill>
                <a:latin typeface="Pretendard"/>
              </a:rPr>
              <a:t>기본근무 등록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3538728"/>
            <a:ext cx="1280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Pretendard"/>
              </a:rPr>
              <a:t>근무장소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863840" y="3538728"/>
            <a:ext cx="3611880" cy="292608"/>
          </a:xfrm>
          <a:prstGeom prst="roundRect">
            <a:avLst>
              <a:gd name="adj" fmla="val 18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955280" y="3538728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0F172A"/>
                </a:solidFill>
                <a:latin typeface="Pretendard"/>
              </a:rPr>
              <a:t>★ 사무실 → 재택 (실제 칩 시퀀스)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3922776"/>
            <a:ext cx="1280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Pretendard"/>
              </a:rPr>
              <a:t>휴가/반차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863840" y="3922776"/>
            <a:ext cx="3611880" cy="292608"/>
          </a:xfrm>
          <a:prstGeom prst="roundRect">
            <a:avLst>
              <a:gd name="adj" fmla="val 18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955280" y="3922776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0F172A"/>
                </a:solidFill>
                <a:latin typeface="Pretendard"/>
              </a:rPr>
              <a:t>없음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37960" y="4306824"/>
            <a:ext cx="1280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Pretendard"/>
              </a:rPr>
              <a:t>출근/퇴근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863840" y="4306824"/>
            <a:ext cx="3611880" cy="292608"/>
          </a:xfrm>
          <a:prstGeom prst="roundRect">
            <a:avLst>
              <a:gd name="adj" fmla="val 18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955280" y="4306824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0F172A"/>
                </a:solidFill>
                <a:latin typeface="Pretendard"/>
              </a:rPr>
              <a:t>09:00  →  18:00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37960" y="4690872"/>
            <a:ext cx="1280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Pretendard"/>
              </a:rPr>
              <a:t>휴게시간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863840" y="4690872"/>
            <a:ext cx="3611880" cy="292608"/>
          </a:xfrm>
          <a:prstGeom prst="roundRect">
            <a:avLst>
              <a:gd name="adj" fmla="val 18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955280" y="4690872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0F172A"/>
                </a:solidFill>
                <a:latin typeface="Pretendard"/>
              </a:rPr>
              <a:t>01:00  (자동)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37960" y="5074920"/>
            <a:ext cx="1280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Pretendard"/>
              </a:rPr>
              <a:t>근무내용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863840" y="5074920"/>
            <a:ext cx="3611880" cy="292608"/>
          </a:xfrm>
          <a:prstGeom prst="roundRect">
            <a:avLst>
              <a:gd name="adj" fmla="val 18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955280" y="5074920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0F172A"/>
                </a:solidFill>
                <a:latin typeface="Pretendard"/>
              </a:rPr>
              <a:t>보안 패치 + 가이드 작성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37960" y="5532120"/>
            <a:ext cx="4754880" cy="411480"/>
          </a:xfrm>
          <a:prstGeom prst="roundRect">
            <a:avLst>
              <a:gd name="adj" fmla="val 18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675120" y="5532120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1E40AF"/>
                </a:solidFill>
                <a:latin typeface="Pretendard"/>
              </a:rPr>
              <a:t>EW 미리보기   ·   실근무 8.0   /   휴게 1.0   /   EW = 8.0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537960" y="5989320"/>
            <a:ext cx="4754880" cy="365760"/>
          </a:xfrm>
          <a:prstGeom prst="roundRect">
            <a:avLst>
              <a:gd name="adj" fmla="val 18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537960" y="598932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Pretendard"/>
              </a:rPr>
              <a:t>📋   제출 → EW상신 자동 이동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Pretendard"/>
              </a:rPr>
              <a:t>08  ·  LEAVE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0584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0F172A"/>
                </a:solidFill>
                <a:latin typeface="Pretendard"/>
              </a:rPr>
              <a:t>휴가 / 반차 입력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4748B"/>
                </a:solidFill>
                <a:latin typeface="Pretendard"/>
              </a:rPr>
              <a:t>퇴근보고 모달의 "휴가/반차" 섹션에서 입력 → 휴가상신 페이지 자동 이동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2560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4A3B8"/>
                </a:solidFill>
                <a:latin typeface="Pretendard"/>
              </a:rPr>
              <a:t>09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4A3B8"/>
                </a:solidFill>
                <a:latin typeface="Pretendard"/>
              </a:rPr>
              <a:t>N-Click  ·  Quick Guide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68880"/>
            <a:ext cx="5458968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14400" y="2788920"/>
            <a:ext cx="1051560" cy="1051560"/>
          </a:xfrm>
          <a:prstGeom prst="roundRect">
            <a:avLst>
              <a:gd name="adj" fmla="val 12000"/>
            </a:avLst>
          </a:prstGeom>
          <a:solidFill>
            <a:srgbClr val="FF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788920"/>
            <a:ext cx="105156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4400" b="0">
                <a:solidFill>
                  <a:srgbClr val="F43F5E"/>
                </a:solidFill>
                <a:latin typeface="Pretendard"/>
              </a:rPr>
              <a:t>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2743200"/>
            <a:ext cx="37673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0F172A"/>
                </a:solidFill>
                <a:latin typeface="Pretendard"/>
              </a:rPr>
              <a:t>종일 휴가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3246120"/>
            <a:ext cx="37673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43F5E"/>
                </a:solidFill>
                <a:latin typeface="Pretendard"/>
              </a:rPr>
              <a:t>8시간 차감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3547872"/>
            <a:ext cx="37673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Pretendard"/>
              </a:rPr>
              <a:t>EW = 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2468880"/>
            <a:ext cx="5458968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37376" y="2788920"/>
            <a:ext cx="1051560" cy="105156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37376" y="2788920"/>
            <a:ext cx="105156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4400" b="0">
                <a:solidFill>
                  <a:srgbClr val="F59E0B"/>
                </a:solidFill>
                <a:latin typeface="Pretendard"/>
              </a:rPr>
              <a:t>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71816" y="2743200"/>
            <a:ext cx="37673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0F172A"/>
                </a:solidFill>
                <a:latin typeface="Pretendard"/>
              </a:rPr>
              <a:t>오전 반차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71816" y="3246120"/>
            <a:ext cx="37673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59E0B"/>
                </a:solidFill>
                <a:latin typeface="Pretendard"/>
              </a:rPr>
              <a:t>4시간 차감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71816" y="3547872"/>
            <a:ext cx="37673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Pretendard"/>
              </a:rPr>
              <a:t>09:00 ~ 13:00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206240"/>
            <a:ext cx="5458968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14400" y="4526280"/>
            <a:ext cx="1051560" cy="1051560"/>
          </a:xfrm>
          <a:prstGeom prst="roundRect">
            <a:avLst>
              <a:gd name="adj" fmla="val 12000"/>
            </a:avLst>
          </a:prstGeom>
          <a:solidFill>
            <a:srgbClr val="EE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4526280"/>
            <a:ext cx="105156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4400" b="0">
                <a:solidFill>
                  <a:srgbClr val="8B5CF6"/>
                </a:solidFill>
                <a:latin typeface="Pretendard"/>
              </a:rPr>
              <a:t>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4480560"/>
            <a:ext cx="37673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0F172A"/>
                </a:solidFill>
                <a:latin typeface="Pretendard"/>
              </a:rPr>
              <a:t>오후 반차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48840" y="4983480"/>
            <a:ext cx="37673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8B5CF6"/>
                </a:solidFill>
                <a:latin typeface="Pretendard"/>
              </a:rPr>
              <a:t>4시간 차감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5285232"/>
            <a:ext cx="37673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Pretendard"/>
              </a:rPr>
              <a:t>14:00 ~ 18:00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63056" y="4206240"/>
            <a:ext cx="5458968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437376" y="4526280"/>
            <a:ext cx="1051560" cy="105156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37376" y="4526280"/>
            <a:ext cx="105156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4400" b="0">
                <a:solidFill>
                  <a:srgbClr val="2563EB"/>
                </a:solidFill>
                <a:latin typeface="Pretendard"/>
              </a:rPr>
              <a:t>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71816" y="4480560"/>
            <a:ext cx="37673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0F172A"/>
                </a:solidFill>
                <a:latin typeface="Pretendard"/>
              </a:rPr>
              <a:t>직접 지정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71816" y="4983480"/>
            <a:ext cx="37673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563EB"/>
                </a:solidFill>
                <a:latin typeface="Pretendard"/>
              </a:rPr>
              <a:t>시간 select 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71816" y="5285232"/>
            <a:ext cx="37673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Pretendard"/>
              </a:rPr>
              <a:t>자유 조정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5943600"/>
            <a:ext cx="10927080" cy="457200"/>
          </a:xfrm>
          <a:prstGeom prst="roundRect">
            <a:avLst>
              <a:gd name="adj" fmla="val 18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8680" y="6079129"/>
            <a:ext cx="10515600" cy="1861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dirty="0">
                <a:solidFill>
                  <a:srgbClr val="1E40AF"/>
                </a:solidFill>
                <a:latin typeface="Pretendard"/>
              </a:rPr>
              <a:t>💡  </a:t>
            </a:r>
            <a:r>
              <a:rPr sz="1100" b="0" dirty="0" err="1">
                <a:solidFill>
                  <a:srgbClr val="1E40AF"/>
                </a:solidFill>
                <a:latin typeface="Pretendard"/>
              </a:rPr>
              <a:t>휴가</a:t>
            </a:r>
            <a:r>
              <a:rPr sz="1100" b="0" dirty="0">
                <a:solidFill>
                  <a:srgbClr val="1E40AF"/>
                </a:solidFill>
                <a:latin typeface="Pretendard"/>
              </a:rPr>
              <a:t>/</a:t>
            </a:r>
            <a:r>
              <a:rPr sz="1100" b="0" dirty="0" err="1">
                <a:solidFill>
                  <a:srgbClr val="1E40AF"/>
                </a:solidFill>
                <a:latin typeface="Pretendard"/>
              </a:rPr>
              <a:t>반차</a:t>
            </a:r>
            <a:r>
              <a:rPr sz="1100" b="0" dirty="0">
                <a:solidFill>
                  <a:srgbClr val="1E40AF"/>
                </a:solidFill>
                <a:latin typeface="Pretendard"/>
              </a:rPr>
              <a:t> </a:t>
            </a:r>
            <a:r>
              <a:rPr sz="1100" b="0" dirty="0" err="1">
                <a:solidFill>
                  <a:srgbClr val="1E40AF"/>
                </a:solidFill>
                <a:latin typeface="Pretendard"/>
              </a:rPr>
              <a:t>등록</a:t>
            </a:r>
            <a:r>
              <a:rPr sz="1100" b="0" dirty="0">
                <a:solidFill>
                  <a:srgbClr val="1E40AF"/>
                </a:solidFill>
                <a:latin typeface="Pretendard"/>
              </a:rPr>
              <a:t> 후 </a:t>
            </a:r>
            <a:r>
              <a:rPr sz="1100" b="0" dirty="0" err="1">
                <a:solidFill>
                  <a:srgbClr val="1E40AF"/>
                </a:solidFill>
                <a:latin typeface="Pretendard"/>
              </a:rPr>
              <a:t>휴가상신</a:t>
            </a:r>
            <a:r>
              <a:rPr sz="1100" b="0" dirty="0">
                <a:solidFill>
                  <a:srgbClr val="1E40AF"/>
                </a:solidFill>
                <a:latin typeface="Pretendard"/>
              </a:rPr>
              <a:t> </a:t>
            </a:r>
            <a:r>
              <a:rPr sz="1100" b="0" dirty="0" err="1">
                <a:solidFill>
                  <a:srgbClr val="1E40AF"/>
                </a:solidFill>
                <a:latin typeface="Pretendard"/>
              </a:rPr>
              <a:t>페이지로</a:t>
            </a:r>
            <a:r>
              <a:rPr sz="1100" b="0" dirty="0">
                <a:solidFill>
                  <a:srgbClr val="1E40AF"/>
                </a:solidFill>
                <a:latin typeface="Pretendard"/>
              </a:rPr>
              <a:t> </a:t>
            </a:r>
            <a:r>
              <a:rPr sz="1100" b="0" dirty="0" err="1">
                <a:solidFill>
                  <a:srgbClr val="1E40AF"/>
                </a:solidFill>
                <a:latin typeface="Pretendard"/>
              </a:rPr>
              <a:t>자동</a:t>
            </a:r>
            <a:r>
              <a:rPr sz="1100" b="0" dirty="0">
                <a:solidFill>
                  <a:srgbClr val="1E40AF"/>
                </a:solidFill>
                <a:latin typeface="Pretendard"/>
              </a:rPr>
              <a:t> </a:t>
            </a:r>
            <a:r>
              <a:rPr sz="1100" b="0" dirty="0" err="1">
                <a:solidFill>
                  <a:srgbClr val="1E40AF"/>
                </a:solidFill>
                <a:latin typeface="Pretendard"/>
              </a:rPr>
              <a:t>연결</a:t>
            </a:r>
            <a:r>
              <a:rPr sz="1100" b="0" dirty="0">
                <a:solidFill>
                  <a:srgbClr val="1E40AF"/>
                </a:solidFill>
                <a:latin typeface="Pretendard"/>
              </a:rPr>
              <a:t> — </a:t>
            </a:r>
            <a:r>
              <a:rPr lang="ko-KR" altLang="en-US" sz="1100" b="0" dirty="0">
                <a:solidFill>
                  <a:srgbClr val="1E40AF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이동 </a:t>
            </a:r>
            <a:r>
              <a:rPr lang="ko-KR" altLang="en-US" sz="1100" dirty="0">
                <a:solidFill>
                  <a:srgbClr val="1E40AF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시간 단축</a:t>
            </a:r>
            <a:endParaRPr sz="1100" b="0" dirty="0">
              <a:solidFill>
                <a:srgbClr val="1E40AF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Pretendard"/>
              </a:rPr>
              <a:t>09  ·  MY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0584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0F172A"/>
                </a:solidFill>
                <a:latin typeface="Pretendard"/>
              </a:rPr>
              <a:t>My Page — 내 제출 내역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4748B"/>
                </a:solidFill>
                <a:latin typeface="Pretendard"/>
              </a:rPr>
              <a:t>리스트 / 캘린더뷰 토글 + 행에서 EW상신 다시 열기 / 수정 / 삭제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2560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4A3B8"/>
                </a:solidFill>
                <a:latin typeface="Pretendard"/>
              </a:rPr>
              <a:t>10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4A3B8"/>
                </a:solidFill>
                <a:latin typeface="Pretendard"/>
              </a:rPr>
              <a:t>N-Click  ·  Quick Guide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06040"/>
            <a:ext cx="10927080" cy="4114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606040"/>
            <a:ext cx="10058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Pretendard"/>
              </a:rPr>
              <a:t>근무일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06040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Pretendard"/>
              </a:rPr>
              <a:t>근무장소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606040"/>
            <a:ext cx="17830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Pretendard"/>
              </a:rPr>
              <a:t>출퇴근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606040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Pretendard"/>
              </a:rPr>
              <a:t>실근무 / 휴게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2606040"/>
            <a:ext cx="8686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Pretendard"/>
              </a:rPr>
              <a:t>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606040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Pretendard"/>
              </a:rPr>
              <a:t>내용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2606040"/>
            <a:ext cx="13258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Pretendard"/>
              </a:rPr>
              <a:t>액션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017520"/>
            <a:ext cx="109270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3017520"/>
            <a:ext cx="10058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Pretendard"/>
              </a:rPr>
              <a:t>05/04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017520"/>
            <a:ext cx="10972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Pretendard"/>
              </a:rPr>
              <a:t>사무실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017520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Pretendard"/>
              </a:rPr>
              <a:t>09:00 ~ 18:00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3017520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Pretendard"/>
              </a:rPr>
              <a:t>8.0 / 1.0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3017520"/>
            <a:ext cx="8686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Pretendard"/>
              </a:rPr>
              <a:t>8.0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017520"/>
            <a:ext cx="32918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Pretendard"/>
              </a:rPr>
              <a:t>보안 패치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309860" y="3136392"/>
            <a:ext cx="365760" cy="274320"/>
          </a:xfrm>
          <a:prstGeom prst="roundRect">
            <a:avLst>
              <a:gd name="adj" fmla="val 1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309860" y="313639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2563EB"/>
                </a:solidFill>
                <a:latin typeface="Pretendard"/>
              </a:rPr>
              <a:t>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721340" y="3136392"/>
            <a:ext cx="365760" cy="274320"/>
          </a:xfrm>
          <a:prstGeom prst="roundRect">
            <a:avLst>
              <a:gd name="adj" fmla="val 1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721340" y="313639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F59E0B"/>
                </a:solidFill>
                <a:latin typeface="Pretendard"/>
              </a:rPr>
              <a:t>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132820" y="3136392"/>
            <a:ext cx="365760" cy="274320"/>
          </a:xfrm>
          <a:prstGeom prst="roundRect">
            <a:avLst>
              <a:gd name="adj" fmla="val 1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132820" y="313639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F43F5E"/>
                </a:solidFill>
                <a:latin typeface="Pretendard"/>
              </a:rPr>
              <a:t>🗑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520440"/>
            <a:ext cx="10927080" cy="5029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" y="3520440"/>
            <a:ext cx="10058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Pretendard"/>
              </a:rPr>
              <a:t>05/03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3520440"/>
            <a:ext cx="10972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Pretendard"/>
              </a:rPr>
              <a:t>재택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3520440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Pretendard"/>
              </a:rPr>
              <a:t>10:00 ~ 19:00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80" y="3520440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Pretendard"/>
              </a:rPr>
              <a:t>8.0 / 1.0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3520440"/>
            <a:ext cx="8686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Pretendard"/>
              </a:rPr>
              <a:t>8.0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3520440"/>
            <a:ext cx="32918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Pretendard"/>
              </a:rPr>
              <a:t>문서 작성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309860" y="3639312"/>
            <a:ext cx="365760" cy="274320"/>
          </a:xfrm>
          <a:prstGeom prst="roundRect">
            <a:avLst>
              <a:gd name="adj" fmla="val 1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309860" y="363931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2563EB"/>
                </a:solidFill>
                <a:latin typeface="Pretendard"/>
              </a:rPr>
              <a:t>📋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721340" y="3639312"/>
            <a:ext cx="365760" cy="274320"/>
          </a:xfrm>
          <a:prstGeom prst="roundRect">
            <a:avLst>
              <a:gd name="adj" fmla="val 1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721340" y="363931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F59E0B"/>
                </a:solidFill>
                <a:latin typeface="Pretendard"/>
              </a:rPr>
              <a:t>✏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132820" y="3639312"/>
            <a:ext cx="365760" cy="274320"/>
          </a:xfrm>
          <a:prstGeom prst="roundRect">
            <a:avLst>
              <a:gd name="adj" fmla="val 1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1132820" y="363931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F43F5E"/>
                </a:solidFill>
                <a:latin typeface="Pretendard"/>
              </a:rPr>
              <a:t>🗑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4023360"/>
            <a:ext cx="109270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0080" y="4023360"/>
            <a:ext cx="10058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Pretendard"/>
              </a:rPr>
              <a:t>05/02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45920" y="4023360"/>
            <a:ext cx="10972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Pretendard"/>
              </a:rPr>
              <a:t>사무실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0" y="4023360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Pretendard"/>
              </a:rPr>
              <a:t>09:00 ~ 17:30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26280" y="4023360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Pretendard"/>
              </a:rPr>
              <a:t>7.5 / 1.0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80760" y="4023360"/>
            <a:ext cx="8686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Pretendard"/>
              </a:rPr>
              <a:t>7.5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40" y="4023360"/>
            <a:ext cx="32918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Pretendard"/>
              </a:rPr>
              <a:t>회의 + 개발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309860" y="4142232"/>
            <a:ext cx="365760" cy="274320"/>
          </a:xfrm>
          <a:prstGeom prst="roundRect">
            <a:avLst>
              <a:gd name="adj" fmla="val 1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309860" y="414223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2563EB"/>
                </a:solidFill>
                <a:latin typeface="Pretendard"/>
              </a:rPr>
              <a:t>📋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721340" y="4142232"/>
            <a:ext cx="365760" cy="274320"/>
          </a:xfrm>
          <a:prstGeom prst="roundRect">
            <a:avLst>
              <a:gd name="adj" fmla="val 1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721340" y="414223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F59E0B"/>
                </a:solidFill>
                <a:latin typeface="Pretendard"/>
              </a:rPr>
              <a:t>✏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1132820" y="4142232"/>
            <a:ext cx="365760" cy="274320"/>
          </a:xfrm>
          <a:prstGeom prst="roundRect">
            <a:avLst>
              <a:gd name="adj" fmla="val 1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1132820" y="414223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F43F5E"/>
                </a:solidFill>
                <a:latin typeface="Pretendard"/>
              </a:rPr>
              <a:t>🗑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" y="4526280"/>
            <a:ext cx="109270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640080" y="5166360"/>
            <a:ext cx="361188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914400" y="5440680"/>
            <a:ext cx="640080" cy="640080"/>
          </a:xfrm>
          <a:prstGeom prst="roundRect">
            <a:avLst>
              <a:gd name="adj" fmla="val 18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14400" y="544068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>
                <a:solidFill>
                  <a:srgbClr val="2563EB"/>
                </a:solidFill>
                <a:latin typeface="Pretendard"/>
              </a:rPr>
              <a:t>📋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691640" y="539496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172A"/>
                </a:solidFill>
                <a:latin typeface="Pretendard"/>
              </a:rPr>
              <a:t>복사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691640" y="576072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4748B"/>
                </a:solidFill>
                <a:latin typeface="Pretendard"/>
              </a:rPr>
              <a:t>EW 텍스트 클립보드에 복사 → EW 시스템에 붙여넣기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320540" y="5166360"/>
            <a:ext cx="361188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4594860" y="5440680"/>
            <a:ext cx="640080" cy="640080"/>
          </a:xfrm>
          <a:prstGeom prst="roundRect">
            <a:avLst>
              <a:gd name="adj" fmla="val 18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594860" y="544068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>
                <a:solidFill>
                  <a:srgbClr val="F59E0B"/>
                </a:solidFill>
                <a:latin typeface="Pretendard"/>
              </a:rPr>
              <a:t>✏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372100" y="539496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172A"/>
                </a:solidFill>
                <a:latin typeface="Pretendard"/>
              </a:rPr>
              <a:t>수정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72100" y="576072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4748B"/>
                </a:solidFill>
                <a:latin typeface="Pretendard"/>
              </a:rPr>
              <a:t>연필 아이콘 → 모달에서 변경 → Teams에도 수정 알림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001000" y="5166360"/>
            <a:ext cx="361188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8275320" y="5440680"/>
            <a:ext cx="640080" cy="640080"/>
          </a:xfrm>
          <a:prstGeom prst="roundRect">
            <a:avLst>
              <a:gd name="adj" fmla="val 18000"/>
            </a:avLst>
          </a:prstGeom>
          <a:solidFill>
            <a:srgbClr val="FF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275320" y="544068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>
                <a:solidFill>
                  <a:srgbClr val="F43F5E"/>
                </a:solidFill>
                <a:latin typeface="Pretendard"/>
              </a:rPr>
              <a:t>🗑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52560" y="539496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172A"/>
                </a:solidFill>
                <a:latin typeface="Pretendard"/>
              </a:rPr>
              <a:t>삭제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52560" y="576072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4748B"/>
                </a:solidFill>
                <a:latin typeface="Pretendard"/>
              </a:rPr>
              <a:t>휴지통 아이콘 → 확인 후 삭제 → Teams에도 삭제 알림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Pretendard"/>
              </a:rPr>
              <a:t>10  ·  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0584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0F172A"/>
                </a:solidFill>
                <a:latin typeface="Pretendard"/>
              </a:rPr>
              <a:t>자주 묻는 질문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4748B"/>
                </a:solidFill>
                <a:latin typeface="Pretendard"/>
              </a:rPr>
              <a:t>막힐 때 가장 많이 보는 질문들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2560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4A3B8"/>
                </a:solidFill>
                <a:latin typeface="Pretendard"/>
              </a:rPr>
              <a:t>11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4A3B8"/>
                </a:solidFill>
                <a:latin typeface="Pretendard"/>
              </a:rPr>
              <a:t>N-Click  ·  Quick Guide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23160"/>
            <a:ext cx="5458968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14400" y="2697480"/>
            <a:ext cx="594360" cy="29260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697480"/>
            <a:ext cx="5943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Pretendard"/>
              </a:rPr>
              <a:t>Q1.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697480"/>
            <a:ext cx="42702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172A"/>
                </a:solidFill>
                <a:latin typeface="Pretendard"/>
              </a:rPr>
              <a:t>새벽까지 일했는데 어제로 보고하려면?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00400"/>
            <a:ext cx="4910328" cy="2246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dirty="0">
                <a:solidFill>
                  <a:srgbClr val="64748B"/>
                </a:solidFill>
                <a:latin typeface="Pretendard"/>
              </a:rPr>
              <a:t>MY PAGE </a:t>
            </a:r>
            <a:r>
              <a:rPr sz="1100" b="0" dirty="0" err="1">
                <a:solidFill>
                  <a:srgbClr val="64748B"/>
                </a:solidFill>
                <a:latin typeface="Pretendard"/>
              </a:rPr>
              <a:t>헤더의</a:t>
            </a:r>
            <a:r>
              <a:rPr sz="1100" b="0" dirty="0">
                <a:solidFill>
                  <a:srgbClr val="64748B"/>
                </a:solidFill>
                <a:latin typeface="Pretendard"/>
              </a:rPr>
              <a:t> </a:t>
            </a:r>
            <a:r>
              <a:rPr sz="1100" b="0" dirty="0" err="1">
                <a:solidFill>
                  <a:srgbClr val="64748B"/>
                </a:solidFill>
                <a:latin typeface="Pretendard"/>
              </a:rPr>
              <a:t>날짜</a:t>
            </a:r>
            <a:r>
              <a:rPr sz="1100" b="0" dirty="0">
                <a:solidFill>
                  <a:srgbClr val="64748B"/>
                </a:solidFill>
                <a:latin typeface="Pretendard"/>
              </a:rPr>
              <a:t> </a:t>
            </a:r>
            <a:r>
              <a:rPr sz="1100" b="0" err="1">
                <a:solidFill>
                  <a:srgbClr val="64748B"/>
                </a:solidFill>
                <a:latin typeface="Pretendard"/>
              </a:rPr>
              <a:t>좌측</a:t>
            </a:r>
            <a:r>
              <a:rPr sz="1100" b="0">
                <a:solidFill>
                  <a:srgbClr val="64748B"/>
                </a:solidFill>
                <a:latin typeface="Pretendard"/>
              </a:rPr>
              <a:t> </a:t>
            </a:r>
            <a:r>
              <a:rPr lang="ko-KR" altLang="en-US" sz="1100">
                <a:solidFill>
                  <a:srgbClr val="64748B"/>
                </a:solidFill>
                <a:latin typeface="Pretendard"/>
              </a:rPr>
              <a:t>버튼</a:t>
            </a:r>
            <a:r>
              <a:rPr sz="1100" b="0">
                <a:solidFill>
                  <a:srgbClr val="64748B"/>
                </a:solidFill>
                <a:latin typeface="Pretendard"/>
              </a:rPr>
              <a:t>으로 </a:t>
            </a:r>
            <a:r>
              <a:rPr sz="1100" b="0" dirty="0" err="1">
                <a:solidFill>
                  <a:srgbClr val="64748B"/>
                </a:solidFill>
                <a:latin typeface="Pretendard"/>
              </a:rPr>
              <a:t>어제</a:t>
            </a:r>
            <a:r>
              <a:rPr sz="1100" b="0" dirty="0">
                <a:solidFill>
                  <a:srgbClr val="64748B"/>
                </a:solidFill>
                <a:latin typeface="Pretendard"/>
              </a:rPr>
              <a:t> </a:t>
            </a:r>
            <a:r>
              <a:rPr sz="1100" b="0" dirty="0" err="1">
                <a:solidFill>
                  <a:srgbClr val="64748B"/>
                </a:solidFill>
                <a:latin typeface="Pretendard"/>
              </a:rPr>
              <a:t>날짜로</a:t>
            </a:r>
            <a:r>
              <a:rPr sz="1100" b="0" dirty="0">
                <a:solidFill>
                  <a:srgbClr val="64748B"/>
                </a:solidFill>
                <a:latin typeface="Pretendard"/>
              </a:rPr>
              <a:t> </a:t>
            </a:r>
            <a:r>
              <a:rPr sz="1100" b="0" dirty="0" err="1">
                <a:solidFill>
                  <a:srgbClr val="64748B"/>
                </a:solidFill>
                <a:latin typeface="Pretendard"/>
              </a:rPr>
              <a:t>이동</a:t>
            </a:r>
            <a:r>
              <a:rPr sz="1100" b="0" dirty="0">
                <a:solidFill>
                  <a:srgbClr val="64748B"/>
                </a:solidFill>
                <a:latin typeface="Pretendard"/>
              </a:rPr>
              <a:t> → </a:t>
            </a:r>
            <a:r>
              <a:rPr sz="1100" b="0" dirty="0" err="1">
                <a:solidFill>
                  <a:srgbClr val="64748B"/>
                </a:solidFill>
                <a:latin typeface="Pretendard"/>
              </a:rPr>
              <a:t>평소처럼</a:t>
            </a:r>
            <a:r>
              <a:rPr sz="1100" b="0" dirty="0">
                <a:solidFill>
                  <a:srgbClr val="64748B"/>
                </a:solidFill>
                <a:latin typeface="Pretendard"/>
              </a:rPr>
              <a:t> </a:t>
            </a:r>
            <a:r>
              <a:rPr sz="1100" b="0" dirty="0" err="1">
                <a:solidFill>
                  <a:srgbClr val="64748B"/>
                </a:solidFill>
                <a:latin typeface="Pretendard"/>
              </a:rPr>
              <a:t>보고</a:t>
            </a:r>
            <a:r>
              <a:rPr sz="1100" b="0" dirty="0">
                <a:solidFill>
                  <a:srgbClr val="64748B"/>
                </a:solidFill>
                <a:latin typeface="Pretendard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6" y="2423160"/>
            <a:ext cx="5458968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37376" y="2697480"/>
            <a:ext cx="594360" cy="29260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37376" y="2697480"/>
            <a:ext cx="5943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59E0B"/>
                </a:solidFill>
                <a:latin typeface="Pretendard"/>
              </a:rPr>
              <a:t>Q2.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23176" y="2697480"/>
            <a:ext cx="42702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172A"/>
                </a:solidFill>
                <a:latin typeface="Pretendard"/>
              </a:rPr>
              <a:t>제출한 보고 수정하고 싶어요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3200400"/>
            <a:ext cx="4910328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64748B"/>
                </a:solidFill>
                <a:latin typeface="Pretendard"/>
              </a:rPr>
              <a:t>My Page → 해당 행의 ✏ 아이콘 → 모달 다시 열림 → 수정 후 저장.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096512"/>
            <a:ext cx="5458968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14400" y="4370832"/>
            <a:ext cx="594360" cy="292608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370832"/>
            <a:ext cx="5943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10B981"/>
                </a:solidFill>
                <a:latin typeface="Pretendard"/>
              </a:rPr>
              <a:t>Q3.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370832"/>
            <a:ext cx="42702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172A"/>
                </a:solidFill>
                <a:latin typeface="Pretendard"/>
              </a:rPr>
              <a:t>다른 PC에서 로그인하면 기존 세션 풀려요?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873752"/>
            <a:ext cx="4910328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64748B"/>
                </a:solidFill>
                <a:latin typeface="Pretendard"/>
              </a:rPr>
              <a:t>풀리지 않습니다. 각 브라우저는 독립 세션. 한 곳 로그아웃해도 다른 곳 영향 X.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63056" y="4096512"/>
            <a:ext cx="5458968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437376" y="4370832"/>
            <a:ext cx="594360" cy="292608"/>
          </a:xfrm>
          <a:prstGeom prst="roundRect">
            <a:avLst>
              <a:gd name="adj" fmla="val 50000"/>
            </a:avLst>
          </a:prstGeom>
          <a:solidFill>
            <a:srgbClr val="EE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37376" y="4370832"/>
            <a:ext cx="5943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8B5CF6"/>
                </a:solidFill>
                <a:latin typeface="Pretendard"/>
              </a:rPr>
              <a:t>Q4.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23176" y="4370832"/>
            <a:ext cx="42702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172A"/>
                </a:solidFill>
                <a:latin typeface="Pretendard"/>
              </a:rPr>
              <a:t>30일 지나면?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7376" y="4873752"/>
            <a:ext cx="4910328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64748B"/>
                </a:solidFill>
                <a:latin typeface="Pretendard"/>
              </a:rPr>
              <a:t>자동 로그아웃 → 다시 Google 로그인만 하면 끝.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806440"/>
            <a:ext cx="10927080" cy="54864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4400" y="5806440"/>
            <a:ext cx="64008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Pretendard"/>
              </a:rPr>
              <a:t>문의 / 도움이 필요할 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80644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DBEAFE"/>
                </a:solidFill>
                <a:latin typeface="Pretendard"/>
              </a:rPr>
              <a:t>시스템 / 계정 / 권한 문의는 사내 메신저로 관리자에게 연락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1028</Words>
  <Application>Microsoft Office PowerPoint</Application>
  <PresentationFormat>와이드스크린</PresentationFormat>
  <Paragraphs>290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Pretendard</vt:lpstr>
      <vt:lpstr>Pretendard Light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김재민/마이스팀/NHR</cp:lastModifiedBy>
  <cp:revision>7</cp:revision>
  <dcterms:created xsi:type="dcterms:W3CDTF">2013-01-27T09:14:16Z</dcterms:created>
  <dcterms:modified xsi:type="dcterms:W3CDTF">2026-05-11T04:48:21Z</dcterms:modified>
  <cp:category/>
</cp:coreProperties>
</file>