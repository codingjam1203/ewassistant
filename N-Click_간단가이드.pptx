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4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14400" y="2286000"/>
            <a:ext cx="1097280" cy="10972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342197"/>
            <a:ext cx="109728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224028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00" b="1" dirty="0">
                <a:solidFill>
                  <a:srgbClr val="FFFFFF"/>
                </a:solidFill>
                <a:latin typeface="Pretendard" panose="02000503000000020004" pitchFamily="50" charset="-127"/>
              </a:rPr>
              <a:t>N-Click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200400"/>
            <a:ext cx="8229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출퇴근보고</a:t>
            </a:r>
            <a:r>
              <a:rPr sz="2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2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빠른</a:t>
            </a:r>
            <a:r>
              <a:rPr sz="2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2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시작</a:t>
            </a:r>
            <a:r>
              <a:rPr sz="2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2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가이드</a:t>
            </a:r>
            <a:endParaRPr sz="2800" b="0" dirty="0">
              <a:solidFill>
                <a:srgbClr val="DBEAFE"/>
              </a:solidFill>
              <a:latin typeface="Pretendard" panose="0200050300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286000" y="3931920"/>
            <a:ext cx="82296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5분이면 끝, </a:t>
            </a:r>
            <a:r>
              <a:rPr sz="1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매일</a:t>
            </a:r>
            <a:r>
              <a:rPr sz="1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빠르게</a:t>
            </a:r>
            <a:r>
              <a:rPr sz="18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보고하기</a:t>
            </a:r>
            <a:endParaRPr sz="1800" b="0" dirty="0">
              <a:solidFill>
                <a:srgbClr val="DBEAFE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10515600" y="5943600"/>
            <a:ext cx="1371600" cy="4572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0" y="6079867"/>
            <a:ext cx="13716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dirty="0">
                <a:solidFill>
                  <a:srgbClr val="FFFFFF"/>
                </a:solidFill>
                <a:latin typeface="Pretendard" panose="02000503000000020004" pitchFamily="50" charset="-127"/>
              </a:rPr>
              <a:t>Quick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매일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사용하는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흐름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아래</a:t>
            </a:r>
            <a:r>
              <a:rPr sz="16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4단계만 </a:t>
            </a:r>
            <a:r>
              <a:rPr sz="16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알면</a:t>
            </a:r>
            <a:r>
              <a:rPr sz="16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충분합니다</a:t>
            </a:r>
            <a:endParaRPr sz="16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Oval 3"/>
          <p:cNvSpPr/>
          <p:nvPr/>
        </p:nvSpPr>
        <p:spPr>
          <a:xfrm>
            <a:off x="640080" y="1828800"/>
            <a:ext cx="1097280" cy="10972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038886"/>
            <a:ext cx="109728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0"/>
            <a:ext cx="2743200" cy="24688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383280"/>
            <a:ext cx="2377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로그인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회사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Google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계정으로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한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번만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로그인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(30일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유지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200400" y="2240280"/>
            <a:ext cx="27432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520440" y="1828800"/>
            <a:ext cx="1097280" cy="10972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2038886"/>
            <a:ext cx="109728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7560" y="3200400"/>
            <a:ext cx="2743200" cy="24688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3383280"/>
            <a:ext cx="2377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출근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20440" y="4023360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메인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화면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본인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카드에서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버튼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5" name="Right Arrow 14"/>
          <p:cNvSpPr/>
          <p:nvPr/>
        </p:nvSpPr>
        <p:spPr>
          <a:xfrm>
            <a:off x="6080760" y="2240280"/>
            <a:ext cx="27432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00800" y="182880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2038886"/>
            <a:ext cx="109728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00400"/>
            <a:ext cx="2743200" cy="24688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3383280"/>
            <a:ext cx="2377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4023360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400" dirty="0">
                <a:solidFill>
                  <a:srgbClr val="1F293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휴게 버튼 클릭 </a:t>
            </a:r>
            <a:r>
              <a:rPr sz="1400" dirty="0">
                <a:solidFill>
                  <a:srgbClr val="1F2937"/>
                </a:solidFill>
                <a:latin typeface="Pretendard Light" panose="02000403000000020004" pitchFamily="50" charset="-127"/>
                <a:ea typeface="Pretendard Light" panose="02000403000000020004" pitchFamily="50" charset="-127"/>
                <a:cs typeface="Pretendard Light" panose="02000403000000020004" pitchFamily="50" charset="-127"/>
              </a:rPr>
              <a:t>시 </a:t>
            </a:r>
            <a:r>
              <a:rPr sz="140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휴게</a:t>
            </a:r>
            <a:r>
              <a:rPr sz="140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시작</a:t>
            </a:r>
            <a:endParaRPr sz="140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r>
              <a:rPr sz="1400" dirty="0">
                <a:solidFill>
                  <a:srgbClr val="1F2937"/>
                </a:solidFill>
                <a:latin typeface="Pretendard" panose="02000503000000020004" pitchFamily="50" charset="-127"/>
              </a:rPr>
              <a:t>→ </a:t>
            </a:r>
            <a:r>
              <a:rPr sz="140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돌아오면</a:t>
            </a:r>
            <a:r>
              <a:rPr sz="140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휴게</a:t>
            </a:r>
            <a:r>
              <a:rPr sz="140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종료</a:t>
            </a:r>
            <a:endParaRPr sz="140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1" name="Right Arrow 20"/>
          <p:cNvSpPr/>
          <p:nvPr/>
        </p:nvSpPr>
        <p:spPr>
          <a:xfrm>
            <a:off x="8961120" y="2240280"/>
            <a:ext cx="27432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9281159" y="1828800"/>
            <a:ext cx="1097280" cy="1097280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81159" y="2038886"/>
            <a:ext cx="109728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98280" y="3200400"/>
            <a:ext cx="2743200" cy="24688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81159" y="3383280"/>
            <a:ext cx="237744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퇴근보고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9281159" y="4023360"/>
            <a:ext cx="2377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퇴근보고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작성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EW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텍스트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복사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EW에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붙여넣기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첫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로그인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59436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1. N-Click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주소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접속</a:t>
            </a:r>
            <a:endParaRPr sz="18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2. "Google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계정으로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로그인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"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endParaRPr sz="18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3.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회사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메일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계정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선택</a:t>
            </a:r>
            <a:endParaRPr sz="18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4.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약관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/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개인정보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동의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(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최초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1회)</a:t>
            </a:r>
          </a:p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5.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신규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계정이면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관리자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승인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대기</a:t>
            </a:r>
            <a:endParaRPr sz="18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48640" y="4572000"/>
            <a:ext cx="5943600" cy="146304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4709160"/>
            <a:ext cx="54864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1F3A5F"/>
                </a:solidFill>
                <a:latin typeface="Pretendard" panose="02000503000000020004" pitchFamily="50" charset="-127"/>
              </a:rPr>
              <a:t>한 번 </a:t>
            </a:r>
            <a:r>
              <a:rPr sz="16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로그인하면</a:t>
            </a:r>
            <a:r>
              <a:rPr sz="16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6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같은</a:t>
            </a:r>
            <a:r>
              <a:rPr sz="16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6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브라우저에서</a:t>
            </a:r>
            <a:r>
              <a:rPr sz="16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30일 </a:t>
            </a:r>
            <a:r>
              <a:rPr sz="16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유지</a:t>
            </a:r>
            <a:endParaRPr sz="16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22959" y="5212080"/>
            <a:ext cx="54864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브라우저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닫고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다시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열어도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OK / 30일 후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로그아웃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132320" y="1371600"/>
            <a:ext cx="457200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961120" y="1828800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0" y="1947446"/>
            <a:ext cx="914400" cy="6771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926080"/>
            <a:ext cx="4572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N-Click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383280"/>
            <a:ext cx="45720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출퇴근보고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시스템</a:t>
            </a:r>
            <a:endParaRPr sz="12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772400" y="4114800"/>
            <a:ext cx="3291840" cy="6400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0" y="4311729"/>
            <a:ext cx="329184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" panose="02000503000000020004" pitchFamily="50" charset="-127"/>
              </a:rPr>
              <a:t>🔐  Google </a:t>
            </a:r>
            <a:r>
              <a:rPr sz="16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계정으로</a:t>
            </a:r>
            <a:r>
              <a:rPr sz="16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로그인</a:t>
            </a:r>
            <a:endParaRPr sz="16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20" y="5029200"/>
            <a:ext cx="4572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회사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메일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계정으로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로그인해주세요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메인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화면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—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상태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둘러보기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팀원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모두의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출퇴근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상태를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한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화면에서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확인</a:t>
            </a:r>
            <a:endParaRPr sz="14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74320" cy="2743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702790"/>
            <a:ext cx="137160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dirty="0">
                <a:solidFill>
                  <a:srgbClr val="1F3A5F"/>
                </a:solidFill>
                <a:latin typeface="Pretendard" panose="02000503000000020004" pitchFamily="50" charset="-127"/>
              </a:rPr>
              <a:t>N-Click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1718179"/>
            <a:ext cx="73152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상태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둘러보기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 /  My Page  / 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전체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제출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내역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 /  EW </a:t>
            </a:r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바로가기</a:t>
            </a:r>
            <a:endParaRPr sz="12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332720" y="1718179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김민재</a:t>
            </a:r>
            <a:endParaRPr sz="12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73152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📅 2026-05-06  / 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HR임팩트본부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 /  마이스팀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34640"/>
            <a:ext cx="260604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971800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김민재</a:t>
            </a:r>
            <a:endParaRPr sz="15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1371600" y="3017520"/>
            <a:ext cx="365760" cy="27432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71600" y="3085430"/>
            <a:ext cx="365760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dirty="0">
                <a:solidFill>
                  <a:srgbClr val="2563EB"/>
                </a:solidFill>
                <a:latin typeface="Pretendard" panose="02000503000000020004" pitchFamily="50" charset="-127"/>
              </a:rPr>
              <a:t>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11680" y="2971800"/>
            <a:ext cx="960120" cy="3200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11680" y="3054876"/>
            <a:ext cx="96012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출근보고</a:t>
            </a:r>
            <a:r>
              <a:rPr sz="10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작성됨</a:t>
            </a:r>
            <a:endParaRPr sz="10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3337560"/>
            <a:ext cx="2286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HR임팩트본부</a:t>
            </a:r>
            <a:r>
              <a:rPr sz="10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/ 마이스팀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74903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09:00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6907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18:00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89120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📍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246120" y="2834640"/>
            <a:ext cx="260604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46120" y="2834640"/>
            <a:ext cx="73152" cy="2194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9000" y="2971800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김주영</a:t>
            </a:r>
            <a:endParaRPr sz="15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800600" y="2971800"/>
            <a:ext cx="960120" cy="3200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3054876"/>
            <a:ext cx="96012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근무</a:t>
            </a:r>
            <a:r>
              <a:rPr sz="10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3337560"/>
            <a:ext cx="2286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HR임팩트본부</a:t>
            </a:r>
            <a:r>
              <a:rPr sz="10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/ 마이스팀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374903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09:00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06907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18:00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389120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📍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035040" y="2834640"/>
            <a:ext cx="260604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035040" y="2834640"/>
            <a:ext cx="73152" cy="21945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217920" y="2971800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이수진</a:t>
            </a:r>
            <a:endParaRPr sz="15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7589520" y="2971800"/>
            <a:ext cx="960120" cy="32004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89520" y="3054876"/>
            <a:ext cx="96012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휴게</a:t>
            </a:r>
            <a:r>
              <a:rPr sz="10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337560"/>
            <a:ext cx="2286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HR임팩트본부</a:t>
            </a:r>
            <a:r>
              <a:rPr sz="10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/ 마이스팀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374903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09:00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406907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18:00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389120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📍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8823960" y="2834640"/>
            <a:ext cx="2606040" cy="2194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823960" y="2834640"/>
            <a:ext cx="73152" cy="219456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06840" y="2971800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박지호</a:t>
            </a:r>
            <a:endParaRPr sz="15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10378440" y="2971800"/>
            <a:ext cx="960120" cy="32004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378440" y="3054876"/>
            <a:ext cx="96012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미제출</a:t>
            </a:r>
            <a:endParaRPr sz="10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006840" y="3337560"/>
            <a:ext cx="228600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HR임팩트본부</a:t>
            </a:r>
            <a:r>
              <a:rPr sz="10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/ 마이스팀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6840" y="374903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6840" y="4069079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389120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📍 -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48640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카드</a:t>
            </a:r>
            <a:r>
              <a:rPr sz="14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색상</a:t>
            </a:r>
            <a:r>
              <a:rPr sz="14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의미</a:t>
            </a:r>
            <a:endParaRPr sz="14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457200" y="594360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22960" y="5897880"/>
            <a:ext cx="2286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근무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중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0" y="5943600"/>
            <a:ext cx="228600" cy="2286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566160" y="5897880"/>
            <a:ext cx="2286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휴게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/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보고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완료</a:t>
            </a:r>
            <a:endParaRPr sz="13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5943600" y="594360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09360" y="5897880"/>
            <a:ext cx="2286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미제출</a:t>
            </a:r>
            <a:endParaRPr sz="13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출근하기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4864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내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카드에서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버튼을</a:t>
            </a:r>
            <a:r>
              <a:rPr sz="18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8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누르세요</a:t>
            </a:r>
            <a:endParaRPr sz="18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Oval 3"/>
          <p:cNvSpPr/>
          <p:nvPr/>
        </p:nvSpPr>
        <p:spPr>
          <a:xfrm>
            <a:off x="548640" y="210312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5029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버튼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현재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시각으로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기록</a:t>
            </a:r>
            <a:endParaRPr sz="15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6" name="Oval 5"/>
          <p:cNvSpPr/>
          <p:nvPr/>
        </p:nvSpPr>
        <p:spPr>
          <a:xfrm>
            <a:off x="548640" y="2971800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5029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근무지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(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/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재택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/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외근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)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선택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가능</a:t>
            </a:r>
            <a:endParaRPr sz="15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Oval 7"/>
          <p:cNvSpPr/>
          <p:nvPr/>
        </p:nvSpPr>
        <p:spPr>
          <a:xfrm>
            <a:off x="548640" y="3840479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749039"/>
            <a:ext cx="502920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늦은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출근은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"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출근시각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직접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입력"으로</a:t>
            </a:r>
            <a:endParaRPr sz="15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l"/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  30분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단위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시각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선택</a:t>
            </a:r>
            <a:endParaRPr sz="15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548640" y="4709159"/>
            <a:ext cx="182880" cy="18288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50292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즉시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Teams에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알림</a:t>
            </a:r>
            <a:r>
              <a:rPr sz="15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5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발송</a:t>
            </a:r>
            <a:endParaRPr sz="15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858000" y="1371600"/>
            <a:ext cx="484632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858000" y="1371600"/>
            <a:ext cx="91440" cy="4754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0" y="1554480"/>
            <a:ext cx="18288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김민재</a:t>
            </a:r>
            <a:endParaRPr sz="2200" b="1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229600" y="1691640"/>
            <a:ext cx="457200" cy="32004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0" y="1767021"/>
            <a:ext cx="4572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>
                <a:solidFill>
                  <a:srgbClr val="2563EB"/>
                </a:solidFill>
                <a:latin typeface="Pretendard" panose="02000503000000020004" pitchFamily="50" charset="-127"/>
              </a:rPr>
              <a:t>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0" y="1600200"/>
            <a:ext cx="91440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0" y="1690747"/>
            <a:ext cx="9144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근무</a:t>
            </a:r>
            <a:r>
              <a:rPr sz="12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194560"/>
            <a:ext cx="3657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HR임팩트본부</a:t>
            </a:r>
            <a:r>
              <a:rPr sz="12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/ 마이스팀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74320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🕒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09:00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320040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🕒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퇴근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-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365760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📍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132320" y="4389120"/>
            <a:ext cx="1280160" cy="5029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0" y="4532858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✓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출근</a:t>
            </a:r>
            <a:endParaRPr sz="14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549640" y="4389120"/>
            <a:ext cx="1280160" cy="5029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49640" y="4532858"/>
            <a:ext cx="128016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☕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휴게</a:t>
            </a:r>
            <a:endParaRPr sz="14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966960" y="4389120"/>
            <a:ext cx="1554480" cy="50292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966960" y="4540552"/>
            <a:ext cx="155448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퇴근보고</a:t>
            </a:r>
            <a:r>
              <a:rPr sz="13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작성</a:t>
            </a:r>
            <a:endParaRPr sz="13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29" name="Left Arrow 28"/>
          <p:cNvSpPr/>
          <p:nvPr/>
        </p:nvSpPr>
        <p:spPr>
          <a:xfrm>
            <a:off x="8503920" y="4434840"/>
            <a:ext cx="457200" cy="365760"/>
          </a:xfrm>
          <a:prstGeom prst="leftArrow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자리비움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/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점심이나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잠깐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자리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비울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때 —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휴게시간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기록</a:t>
            </a:r>
            <a:endParaRPr sz="14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Oval 3"/>
          <p:cNvSpPr/>
          <p:nvPr/>
        </p:nvSpPr>
        <p:spPr>
          <a:xfrm>
            <a:off x="1645920" y="1828800"/>
            <a:ext cx="1828800" cy="18288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645920" y="2250757"/>
            <a:ext cx="182880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3657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</a:t>
            </a:r>
            <a:r>
              <a:rPr sz="2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시작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버튼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Right Arrow 7"/>
          <p:cNvSpPr/>
          <p:nvPr/>
        </p:nvSpPr>
        <p:spPr>
          <a:xfrm>
            <a:off x="3840480" y="2606040"/>
            <a:ext cx="5486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486400" y="1828800"/>
            <a:ext cx="1828800" cy="1828800"/>
          </a:xfrm>
          <a:prstGeom prst="ellipse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0" y="2250757"/>
            <a:ext cx="182880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840480"/>
            <a:ext cx="3657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자리</a:t>
            </a:r>
            <a:r>
              <a:rPr sz="2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비움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0" y="448056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시간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누적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3" name="Right Arrow 12"/>
          <p:cNvSpPr/>
          <p:nvPr/>
        </p:nvSpPr>
        <p:spPr>
          <a:xfrm>
            <a:off x="7680960" y="2606040"/>
            <a:ext cx="548640" cy="27432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326880" y="1828800"/>
            <a:ext cx="1828800" cy="1828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26880" y="2250757"/>
            <a:ext cx="1828800" cy="98488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6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840480"/>
            <a:ext cx="36576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</a:t>
            </a:r>
            <a:r>
              <a:rPr sz="2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종료</a:t>
            </a:r>
            <a:endParaRPr sz="2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0" y="4480560"/>
            <a:ext cx="3657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버튼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복귀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731520" y="5303520"/>
            <a:ext cx="106984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440680"/>
            <a:ext cx="100584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💡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자리비운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시간이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퇴근보고의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휴게시간에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자동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누적됩니다</a:t>
            </a:r>
            <a:r>
              <a:rPr sz="1500" b="1" dirty="0">
                <a:solidFill>
                  <a:srgbClr val="1F3A5F"/>
                </a:solidFill>
                <a:latin typeface="Pretendard" panose="02000503000000020004" pitchFamily="50" charset="-127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897880"/>
            <a:ext cx="100584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점심시간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(11:30~13:30)은 EW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계산기가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처리하니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별도로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입력하지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않아도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OK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퇴근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보고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작성하기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핵심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화면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—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모달에서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검토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후 "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제출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및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복사하기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457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제출</a:t>
            </a:r>
            <a:r>
              <a:rPr sz="18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8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절차</a:t>
            </a:r>
            <a:endParaRPr sz="18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1.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카드의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"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퇴근보고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작성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"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2.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모달에서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채워진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정보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확인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3.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근무내용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입력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3474720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4.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우측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EW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미리보기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확인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977639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5. "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제출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및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복사하기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"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클릭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84632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6.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EW에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Ctrl+V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로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붙여넣기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57200" y="5212080"/>
            <a:ext cx="5029200" cy="128016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4572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✨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자동으로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채워지는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항목</a:t>
            </a:r>
            <a:endParaRPr sz="13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" y="5715000"/>
            <a:ext cx="4572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출근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/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시각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·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근무지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타임라인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·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휴게시간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0080" y="6035040"/>
            <a:ext cx="45720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필요시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30분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단위로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직접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수정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가능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43600" y="1463040"/>
            <a:ext cx="5943600" cy="5029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943600" y="1463040"/>
            <a:ext cx="5943600" cy="640080"/>
          </a:xfrm>
          <a:prstGeom prst="round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0" y="1659969"/>
            <a:ext cx="53949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출퇴근보고</a:t>
            </a:r>
            <a:r>
              <a:rPr sz="16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6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입력</a:t>
            </a:r>
            <a:endParaRPr sz="16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17920" y="2331720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근무유형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98079" y="2331720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35240" y="2407101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기본근무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등록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17920" y="2743200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근무장소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498079" y="2743200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35240" y="2818581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 09:00 ~  / 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퇴근예정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18:00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154679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휴가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/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반차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498079" y="3154679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35240" y="3230060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없음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17920" y="3566160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출근</a:t>
            </a:r>
            <a:r>
              <a:rPr sz="1100" b="0" dirty="0">
                <a:solidFill>
                  <a:srgbClr val="6B7280"/>
                </a:solidFill>
                <a:latin typeface="Pretendard" panose="02000503000000020004" pitchFamily="50" charset="-127"/>
              </a:rPr>
              <a:t>/</a:t>
            </a:r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퇴근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498079" y="3566160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35240" y="3641541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09:00  →  18:00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977639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휴게시간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498079" y="3977639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635240" y="4053020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01:00 (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자동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89120"/>
            <a:ext cx="118872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근무내용</a:t>
            </a:r>
            <a:endParaRPr sz="11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7498079" y="4389120"/>
            <a:ext cx="4114800" cy="32004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35240" y="4464501"/>
            <a:ext cx="39319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보안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패치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+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가이드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작성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217920" y="4937760"/>
            <a:ext cx="5394960" cy="59436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0" y="5142607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EW </a:t>
            </a:r>
            <a:r>
              <a:rPr sz="1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미리보기</a:t>
            </a:r>
            <a:r>
              <a:rPr sz="1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:  </a:t>
            </a:r>
            <a:r>
              <a:rPr sz="1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실근무</a:t>
            </a:r>
            <a:r>
              <a:rPr sz="1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8.0  /  </a:t>
            </a:r>
            <a:r>
              <a:rPr sz="1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휴게</a:t>
            </a:r>
            <a:r>
              <a:rPr sz="1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1.0  /  EW = 8.0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5715000"/>
            <a:ext cx="539496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7920" y="5873904"/>
            <a:ext cx="539496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📋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제출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및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복사하기</a:t>
            </a:r>
            <a:endParaRPr sz="15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휴가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/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반차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입력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퇴근보고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모달의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"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휴가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/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반차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"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섹션에서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입력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—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EW에서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자동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차감</a:t>
            </a:r>
            <a:endParaRPr sz="14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269748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97480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78129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2697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종일</a:t>
            </a:r>
            <a:r>
              <a:rPr sz="20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휴가</a:t>
            </a:r>
            <a:endParaRPr sz="20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3200400"/>
            <a:ext cx="2697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8시간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차감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EW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45920"/>
            <a:ext cx="269748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91840" y="1645920"/>
            <a:ext cx="2697480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91840" y="178129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697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오전</a:t>
            </a:r>
            <a:r>
              <a:rPr sz="20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반차</a:t>
            </a:r>
            <a:endParaRPr sz="20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291840" y="3200400"/>
            <a:ext cx="2697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4시간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차감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09:00~13:00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45920"/>
            <a:ext cx="269748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26480" y="1645920"/>
            <a:ext cx="2697480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78129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468880"/>
            <a:ext cx="2697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오후</a:t>
            </a:r>
            <a:r>
              <a:rPr sz="20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반차</a:t>
            </a:r>
            <a:endParaRPr sz="20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26480" y="3200400"/>
            <a:ext cx="2697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4시간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차감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ctr"/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14:00~18:00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645920"/>
            <a:ext cx="2697480" cy="3840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697480" cy="64008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0" y="1781294"/>
            <a:ext cx="269748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dirty="0">
                <a:solidFill>
                  <a:srgbClr val="FFFFFF"/>
                </a:solidFill>
                <a:latin typeface="Pretendard" panose="02000503000000020004" pitchFamily="50" charset="-127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69748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직접</a:t>
            </a:r>
            <a:r>
              <a:rPr sz="20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20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지정</a:t>
            </a:r>
            <a:endParaRPr sz="20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961120" y="3200400"/>
            <a:ext cx="269748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시간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select로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  <a:p>
            <a:pPr algn="ctr"/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조정</a:t>
            </a:r>
            <a:r>
              <a:rPr sz="14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가능</a:t>
            </a:r>
            <a:endParaRPr sz="14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57200" y="5760720"/>
            <a:ext cx="11247120" cy="77724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852160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💡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회사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캘린더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시트에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휴가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입력해두면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카드에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자동으로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휴가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배지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13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표시됩니다</a:t>
            </a:r>
            <a:r>
              <a:rPr sz="1300" b="1" dirty="0">
                <a:solidFill>
                  <a:srgbClr val="1F3A5F"/>
                </a:solidFill>
                <a:latin typeface="Pretendard" panose="02000503000000020004" pitchFamily="50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99632"/>
            <a:ext cx="109728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단, EW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계산을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위해서는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N-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Click에서도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별도로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휴가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입력이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필요합니다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My Page — 내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제출</a:t>
            </a:r>
            <a:r>
              <a:rPr sz="3200" b="1" dirty="0">
                <a:solidFill>
                  <a:srgbClr val="1F3A5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내역</a:t>
            </a:r>
            <a:endParaRPr sz="32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본인이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제출한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모든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보고를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확인하고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수정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/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삭제</a:t>
            </a:r>
            <a:r>
              <a:rPr sz="1400" b="0" dirty="0">
                <a:solidFill>
                  <a:srgbClr val="6B7280"/>
                </a:solidFill>
                <a:latin typeface="Pretendard" panose="02000503000000020004" pitchFamily="50" charset="-127"/>
              </a:rPr>
              <a:t> </a:t>
            </a:r>
            <a:r>
              <a:rPr sz="1400" b="0" dirty="0" err="1">
                <a:solidFill>
                  <a:srgbClr val="6B7280"/>
                </a:solidFill>
                <a:latin typeface="Pretendard" panose="02000503000000020004" pitchFamily="50" charset="-127"/>
              </a:rPr>
              <a:t>가능</a:t>
            </a:r>
            <a:endParaRPr sz="1400" b="0" dirty="0">
              <a:solidFill>
                <a:srgbClr val="6B7280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9844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근무일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828800" y="1698441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근무장소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08960" y="169844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출퇴근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480560" y="1698441"/>
            <a:ext cx="15544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실근무</a:t>
            </a:r>
            <a:r>
              <a:rPr sz="1100" b="1" dirty="0">
                <a:solidFill>
                  <a:srgbClr val="FFFFFF"/>
                </a:solidFill>
                <a:latin typeface="Pretendard" panose="02000503000000020004" pitchFamily="50" charset="-127"/>
              </a:rPr>
              <a:t>/</a:t>
            </a:r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휴게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035040" y="169844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  <a:latin typeface="Pretendard" panose="02000503000000020004" pitchFamily="50" charset="-127"/>
              </a:rPr>
              <a:t>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698441"/>
            <a:ext cx="30175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내용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92640" y="1698441"/>
            <a:ext cx="7315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복사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424160" y="169844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수정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064240" y="169844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삭제</a:t>
            </a:r>
            <a:endParaRPr sz="11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11247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17850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05/04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178501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108960" y="217850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09:00 ~ 18:00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78501"/>
            <a:ext cx="15544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8.0 / 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17850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178501"/>
            <a:ext cx="30175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보안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패치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9784080" y="2103120"/>
            <a:ext cx="548640" cy="3200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84080" y="2186196"/>
            <a:ext cx="54864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복사</a:t>
            </a:r>
            <a:endParaRPr sz="10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424160" y="215541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2563EB"/>
                </a:solidFill>
                <a:latin typeface="Pretendard" panose="02000503000000020004" pitchFamily="50" charset="-127"/>
              </a:rPr>
              <a:t>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15541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EF4444"/>
                </a:solidFill>
                <a:latin typeface="Pretendard" panose="02000503000000020004" pitchFamily="50" charset="-127"/>
              </a:rPr>
              <a:t>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514600"/>
            <a:ext cx="11247120" cy="502920"/>
          </a:xfrm>
          <a:prstGeom prst="rect">
            <a:avLst/>
          </a:prstGeom>
          <a:solidFill>
            <a:srgbClr val="F3F4F6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68142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05/03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2681421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재택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08960" y="268142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10:00 ~ 19:00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681421"/>
            <a:ext cx="15544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8.0 / 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68142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8.0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2681421"/>
            <a:ext cx="30175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문서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작성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9784080" y="2606040"/>
            <a:ext cx="548640" cy="3200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0" y="2689116"/>
            <a:ext cx="54864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복사</a:t>
            </a:r>
            <a:endParaRPr sz="10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424160" y="265833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2563EB"/>
                </a:solidFill>
                <a:latin typeface="Pretendard" panose="02000503000000020004" pitchFamily="50" charset="-127"/>
              </a:rPr>
              <a:t>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265833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EF4444"/>
                </a:solidFill>
                <a:latin typeface="Pretendard" panose="02000503000000020004" pitchFamily="50" charset="-127"/>
              </a:rPr>
              <a:t>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017520"/>
            <a:ext cx="11247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318434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05/02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3184341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사무실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108960" y="3184341"/>
            <a:ext cx="13716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09:00 ~ 17:30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3184341"/>
            <a:ext cx="15544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7.5 / 1.0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184341"/>
            <a:ext cx="64008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7.5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184341"/>
            <a:ext cx="30175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회의</a:t>
            </a:r>
            <a:r>
              <a:rPr sz="11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+ </a:t>
            </a:r>
            <a:r>
              <a:rPr sz="11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개발</a:t>
            </a:r>
            <a:endParaRPr sz="11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9784080" y="3108960"/>
            <a:ext cx="548640" cy="3200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784080" y="3192036"/>
            <a:ext cx="54864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복사</a:t>
            </a:r>
            <a:endParaRPr sz="10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424160" y="316125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2563EB"/>
                </a:solidFill>
                <a:latin typeface="Pretendard" panose="02000503000000020004" pitchFamily="50" charset="-127"/>
              </a:rPr>
              <a:t>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64240" y="3161258"/>
            <a:ext cx="64008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0" dirty="0">
                <a:solidFill>
                  <a:srgbClr val="EF4444"/>
                </a:solidFill>
                <a:latin typeface="Pretendard" panose="02000503000000020004" pitchFamily="50" charset="-127"/>
              </a:rPr>
              <a:t>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189511"/>
            <a:ext cx="4572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4227984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복사</a:t>
            </a:r>
            <a:endParaRPr sz="15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286000" y="4243372"/>
            <a:ext cx="91440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EW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텍스트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클립보드에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복사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EW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시스템에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붙여넣기</a:t>
            </a:r>
            <a:endParaRPr sz="13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7200" y="4829591"/>
            <a:ext cx="4572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dirty="0">
                <a:solidFill>
                  <a:srgbClr val="1F2937"/>
                </a:solidFill>
                <a:latin typeface="Pretendard" panose="02000503000000020004" pitchFamily="50" charset="-127"/>
              </a:rPr>
              <a:t>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4868064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수정</a:t>
            </a:r>
            <a:endParaRPr sz="15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286000" y="4883452"/>
            <a:ext cx="91440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연필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아이콘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모달에서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변경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Teams에도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수정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알림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발송</a:t>
            </a:r>
            <a:endParaRPr sz="13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57200" y="5469671"/>
            <a:ext cx="45720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dirty="0">
                <a:solidFill>
                  <a:srgbClr val="1F2937"/>
                </a:solidFill>
                <a:latin typeface="Pretendard" panose="02000503000000020004" pitchFamily="50" charset="-127"/>
              </a:rPr>
              <a:t>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" y="5508144"/>
            <a:ext cx="1371600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dirty="0" err="1">
                <a:solidFill>
                  <a:srgbClr val="1F3A5F"/>
                </a:solidFill>
                <a:latin typeface="Pretendard" panose="02000503000000020004" pitchFamily="50" charset="-127"/>
              </a:rPr>
              <a:t>삭제</a:t>
            </a:r>
            <a:endParaRPr sz="1500" b="1" dirty="0">
              <a:solidFill>
                <a:srgbClr val="1F3A5F"/>
              </a:solidFill>
              <a:latin typeface="Pretendard" panose="02000503000000020004" pitchFamily="50" charset="-127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2286000" y="5523532"/>
            <a:ext cx="9144000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휴지통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아이콘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확인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후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삭제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→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Teams에도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삭제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알림</a:t>
            </a:r>
            <a:r>
              <a:rPr sz="1300" b="0" dirty="0">
                <a:solidFill>
                  <a:srgbClr val="1F2937"/>
                </a:solidFill>
                <a:latin typeface="Pretendard" panose="02000503000000020004" pitchFamily="50" charset="-127"/>
              </a:rPr>
              <a:t> </a:t>
            </a:r>
            <a:r>
              <a:rPr sz="1300" b="0" dirty="0" err="1">
                <a:solidFill>
                  <a:srgbClr val="1F2937"/>
                </a:solidFill>
                <a:latin typeface="Pretendard" panose="02000503000000020004" pitchFamily="50" charset="-127"/>
              </a:rPr>
              <a:t>발송</a:t>
            </a:r>
            <a:endParaRPr sz="1300" b="0" dirty="0">
              <a:solidFill>
                <a:srgbClr val="1F2937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자주</a:t>
            </a:r>
            <a:r>
              <a:rPr sz="32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묻는</a:t>
            </a:r>
            <a:r>
              <a:rPr sz="32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32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질문</a:t>
            </a:r>
            <a:endParaRPr sz="32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9601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Q.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잘못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출근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눌렀어요</a:t>
            </a:r>
            <a:endParaRPr sz="15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카드의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"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출근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취소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"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버튼으로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즉시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되돌리기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가능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.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Teams에도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정정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알림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0881360" cy="9601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651760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Q.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제출한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보고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수정하고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싶어요</a:t>
            </a:r>
            <a:endParaRPr sz="15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3063239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My Page →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해당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행의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✏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아이콘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→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모달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다시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열림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→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수정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후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저장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57600"/>
            <a:ext cx="10881360" cy="9601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749039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Q.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다른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PC에서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로그인하면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기존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세션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풀려요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60520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풀리지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않습니다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. 각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브라우저는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독립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세션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. 한 곳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로그아웃해도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다른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곳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영향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754879"/>
            <a:ext cx="10881360" cy="96012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4846319"/>
            <a:ext cx="10515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Q. 30일 </a:t>
            </a:r>
            <a:r>
              <a:rPr sz="15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지나면</a:t>
            </a:r>
            <a:r>
              <a:rPr sz="1500" b="1" dirty="0">
                <a:solidFill>
                  <a:srgbClr val="FFFFFF"/>
                </a:solidFill>
                <a:latin typeface="Pretendard" panose="02000503000000020004" pitchFamily="50" charset="-127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57799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자동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로그아웃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→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다시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Google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로그인만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하면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43600"/>
            <a:ext cx="109728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문의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/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도움이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</a:t>
            </a:r>
            <a:r>
              <a:rPr sz="1200" b="0" dirty="0" err="1">
                <a:solidFill>
                  <a:srgbClr val="DBEAFE"/>
                </a:solidFill>
                <a:latin typeface="Pretendard" panose="02000503000000020004" pitchFamily="50" charset="-127"/>
              </a:rPr>
              <a:t>필요할</a:t>
            </a:r>
            <a:r>
              <a:rPr sz="1200" b="0" dirty="0">
                <a:solidFill>
                  <a:srgbClr val="DBEAFE"/>
                </a:solidFill>
                <a:latin typeface="Pretendard" panose="02000503000000020004" pitchFamily="50" charset="-127"/>
              </a:rPr>
              <a:t>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109728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시스템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/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계정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/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권한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문의는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사내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메신저로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관리자에게</a:t>
            </a:r>
            <a:r>
              <a:rPr sz="1400" b="1" dirty="0">
                <a:solidFill>
                  <a:srgbClr val="FFFFFF"/>
                </a:solidFill>
                <a:latin typeface="Pretendard" panose="02000503000000020004" pitchFamily="50" charset="-127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Pretendard" panose="02000503000000020004" pitchFamily="50" charset="-127"/>
              </a:rPr>
              <a:t>연락</a:t>
            </a:r>
            <a:endParaRPr sz="1400" b="1" dirty="0">
              <a:solidFill>
                <a:srgbClr val="FFFFFF"/>
              </a:solidFill>
              <a:latin typeface="Pretendard" panose="02000503000000020004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764</Words>
  <Application>Microsoft Office PowerPoint</Application>
  <PresentationFormat>와이드스크린</PresentationFormat>
  <Paragraphs>206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Pretendard</vt:lpstr>
      <vt:lpstr>Pretendard Light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김재민/마이스팀/NHR</cp:lastModifiedBy>
  <cp:revision>2</cp:revision>
  <dcterms:created xsi:type="dcterms:W3CDTF">2013-01-27T09:14:16Z</dcterms:created>
  <dcterms:modified xsi:type="dcterms:W3CDTF">2026-05-05T15:19:54Z</dcterms:modified>
  <cp:category/>
</cp:coreProperties>
</file>