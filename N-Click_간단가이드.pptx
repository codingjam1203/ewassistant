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2286000"/>
            <a:ext cx="6400800" cy="6400800"/>
          </a:xfrm>
          <a:prstGeom prst="ellipse">
            <a:avLst/>
          </a:prstGeom>
          <a:solidFill>
            <a:srgbClr val="2A4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371600" y="4572000"/>
            <a:ext cx="4572000" cy="4572000"/>
          </a:xfrm>
          <a:prstGeom prst="ellipse">
            <a:avLst/>
          </a:prstGeom>
          <a:solidFill>
            <a:srgbClr val="203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6400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Pretendard"/>
              </a:rPr>
              <a:t>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676656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Pretendard"/>
              </a:rPr>
              <a:t>N-Click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194560"/>
            <a:ext cx="1874519" cy="384048"/>
          </a:xfrm>
          <a:prstGeom prst="roundRect">
            <a:avLst>
              <a:gd name="adj" fmla="val 50000"/>
            </a:avLst>
          </a:prstGeom>
          <a:solidFill>
            <a:srgbClr val="2D4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187451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DBEAFE"/>
                </a:solidFill>
                <a:latin typeface="Pretendard"/>
              </a:rPr>
              <a:t>QUICK START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432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FFFFFF"/>
                </a:solidFill>
                <a:latin typeface="Pretendard"/>
              </a:rPr>
              <a:t>출퇴근보고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576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FFFFFF"/>
                </a:solidFill>
                <a:latin typeface="Pretendard"/>
              </a:rPr>
              <a:t>빠른 시작 가이드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00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DBEAFE"/>
                </a:solidFill>
                <a:latin typeface="Pretendard"/>
              </a:rPr>
              <a:t>5분이면 끝, 매일 빠르게 보고하기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852160"/>
            <a:ext cx="548640" cy="365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9893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CB1E2"/>
                </a:solidFill>
                <a:latin typeface="Pretendard"/>
              </a:rPr>
              <a:t>Internal use  ·  HR임팩트본부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103120"/>
            <a:ext cx="402336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89520" y="2103120"/>
            <a:ext cx="4023360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54112" y="2240280"/>
            <a:ext cx="128016" cy="128016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73568" y="2240280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93024" y="2240280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21488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Pretendard"/>
              </a:rPr>
              <a:t>ewassistant.vercel.app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6974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172A"/>
                </a:solidFill>
                <a:latin typeface="Pretendard"/>
              </a:rPr>
              <a:t>오늘의 팀 상태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0" y="3154680"/>
            <a:ext cx="3474720" cy="54864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01000" y="329184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32004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Pretendard"/>
              </a:rPr>
              <a:t>김민재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320040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Pretendard"/>
              </a:rPr>
              <a:t>근무 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3794759"/>
            <a:ext cx="3474720" cy="54864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001000" y="3931919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3840479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Pretendard"/>
              </a:rPr>
              <a:t>이수진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3840479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Pretendard"/>
              </a:rPr>
              <a:t>휴게 중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4434840"/>
            <a:ext cx="3474720" cy="54864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001000" y="4572000"/>
            <a:ext cx="274320" cy="27432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44805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Pretendard"/>
              </a:rPr>
              <a:t>박지호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448056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Pretendard"/>
              </a:rPr>
              <a:t>미제출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Pretendard"/>
              </a:rPr>
              <a:t>01  · 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0F172A"/>
                </a:solidFill>
                <a:latin typeface="Pretendard"/>
              </a:rPr>
              <a:t>기획 의도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Pretendard"/>
              </a:rPr>
              <a:t>현행 EW의 한계와, N-Click이 풀어내려는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2560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Pretendard"/>
              </a:rPr>
              <a:t>02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4A3B8"/>
                </a:solidFill>
                <a:latin typeface="Pretendard"/>
              </a:rPr>
              <a:t>N-Click  ·  Quick Guide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3611880" cy="29260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278892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78892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1E40AF"/>
                </a:solidFill>
                <a:latin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91840"/>
            <a:ext cx="2880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Pretendard"/>
              </a:rPr>
              <a:t>근로시간 계산이 복잡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2880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64748B"/>
                </a:solidFill>
                <a:latin typeface="Pretendard"/>
              </a:rPr>
              <a:t>야근 시 출근 시간을 09시로 임의 조정해 EW를 상신하는 사례가 있어, 실제 근로시간 계산이 번거로움.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423160"/>
            <a:ext cx="3611880" cy="29260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80" y="278892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278892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1E40AF"/>
                </a:solidFill>
                <a:latin typeface="Pretendar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291840"/>
            <a:ext cx="2880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Pretendard"/>
              </a:rPr>
              <a:t>구성원 상태 파악 어려움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114800"/>
            <a:ext cx="2880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64748B"/>
                </a:solidFill>
                <a:latin typeface="Pretendard"/>
              </a:rPr>
              <a:t>근무지·근무형태가 별도 관리되지 않고, 출퇴근/수정에 대한 알림이 없어 업무 상태 공유에 한계.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423160"/>
            <a:ext cx="3611880" cy="29260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03920" y="278892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278892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1E40AF"/>
                </a:solidFill>
                <a:latin typeface="Pretendar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291840"/>
            <a:ext cx="2880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Pretendard"/>
              </a:rPr>
              <a:t>리더의 누적 시간 관리 부재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114800"/>
            <a:ext cx="2880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64748B"/>
                </a:solidFill>
                <a:latin typeface="Pretendard"/>
              </a:rPr>
              <a:t>구성원의 누적 근로시간과 초과근로 위험을 한눈에 보고 선제적으로 관리할 수단이 부족.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577840"/>
            <a:ext cx="10927080" cy="777240"/>
          </a:xfrm>
          <a:prstGeom prst="roundRect">
            <a:avLst>
              <a:gd name="adj" fmla="val 18000"/>
            </a:avLst>
          </a:prstGeom>
          <a:solidFill>
            <a:srgbClr val="17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57784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→  보다 직관적이고 효율적인 출퇴근·근로시간 관리 환경을 위해 N-Click 개발 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Pretendard"/>
              </a:rPr>
              <a:t>02  ·  DAILY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0F172A"/>
                </a:solidFill>
                <a:latin typeface="Pretendard"/>
              </a:rPr>
              <a:t>매일 사용하는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Pretendard"/>
              </a:rPr>
              <a:t>아래 4단계만 알면 충분합니다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2560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Pretendard"/>
              </a:rPr>
              <a:t>03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4A3B8"/>
                </a:solidFill>
                <a:latin typeface="Pretendard"/>
              </a:rPr>
              <a:t>N-Click  ·  Quick Guide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43200"/>
            <a:ext cx="256032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743200"/>
            <a:ext cx="256032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00200" y="315468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31546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0F172A"/>
                </a:solidFill>
                <a:latin typeface="Pretendard"/>
              </a:rPr>
              <a:t>로그인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2011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1200" b="0">
                <a:solidFill>
                  <a:srgbClr val="64748B"/>
                </a:solidFill>
                <a:latin typeface="Pretendard"/>
              </a:rPr>
              <a:t>회사 Google 계정으로</a:t>
            </a:r>
          </a:p>
          <a:p>
            <a:pPr algn="ctr">
              <a:lnSpc>
                <a:spcPct val="145000"/>
              </a:lnSpc>
            </a:pPr>
            <a:r>
              <a:rPr sz="1200" b="0">
                <a:solidFill>
                  <a:srgbClr val="64748B"/>
                </a:solidFill>
                <a:latin typeface="Pretendard"/>
              </a:rPr>
              <a:t>한 번만 로그인 (30일 유지)</a:t>
            </a:r>
          </a:p>
        </p:txBody>
      </p:sp>
      <p:sp>
        <p:nvSpPr>
          <p:cNvPr id="14" name="Oval 13"/>
          <p:cNvSpPr/>
          <p:nvPr/>
        </p:nvSpPr>
        <p:spPr>
          <a:xfrm>
            <a:off x="3255264" y="4251960"/>
            <a:ext cx="118872" cy="118872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29000" y="2743200"/>
            <a:ext cx="256032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2743200"/>
            <a:ext cx="2560320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89120" y="315468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31546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02336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0F172A"/>
                </a:solidFill>
                <a:latin typeface="Pretendard"/>
              </a:rPr>
              <a:t>출근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4572000"/>
            <a:ext cx="2011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1200" b="0">
                <a:solidFill>
                  <a:srgbClr val="64748B"/>
                </a:solidFill>
                <a:latin typeface="Pretendard"/>
              </a:rPr>
              <a:t>메인 화면 본인 카드에서</a:t>
            </a:r>
          </a:p>
          <a:p>
            <a:pPr algn="ctr">
              <a:lnSpc>
                <a:spcPct val="145000"/>
              </a:lnSpc>
            </a:pPr>
            <a:r>
              <a:rPr sz="1200" b="0">
                <a:solidFill>
                  <a:srgbClr val="64748B"/>
                </a:solidFill>
                <a:latin typeface="Pretendard"/>
              </a:rPr>
              <a:t>출근 버튼 클릭</a:t>
            </a:r>
          </a:p>
        </p:txBody>
      </p:sp>
      <p:sp>
        <p:nvSpPr>
          <p:cNvPr id="21" name="Oval 20"/>
          <p:cNvSpPr/>
          <p:nvPr/>
        </p:nvSpPr>
        <p:spPr>
          <a:xfrm>
            <a:off x="6044184" y="4251960"/>
            <a:ext cx="118872" cy="118872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7920" y="2743200"/>
            <a:ext cx="256032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743200"/>
            <a:ext cx="256032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78040" y="315468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78040" y="31546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02336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0F172A"/>
                </a:solidFill>
                <a:latin typeface="Pretendard"/>
              </a:rPr>
              <a:t>휴게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572000"/>
            <a:ext cx="2011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1200" b="0">
                <a:solidFill>
                  <a:srgbClr val="64748B"/>
                </a:solidFill>
                <a:latin typeface="Pretendard"/>
              </a:rPr>
              <a:t>휴게 버튼 클릭 시 시작</a:t>
            </a:r>
          </a:p>
          <a:p>
            <a:pPr algn="ctr">
              <a:lnSpc>
                <a:spcPct val="145000"/>
              </a:lnSpc>
            </a:pPr>
            <a:r>
              <a:rPr sz="1200" b="0">
                <a:solidFill>
                  <a:srgbClr val="64748B"/>
                </a:solidFill>
                <a:latin typeface="Pretendard"/>
              </a:rPr>
              <a:t>→ 돌아오면 종료</a:t>
            </a:r>
          </a:p>
        </p:txBody>
      </p:sp>
      <p:sp>
        <p:nvSpPr>
          <p:cNvPr id="28" name="Oval 27"/>
          <p:cNvSpPr/>
          <p:nvPr/>
        </p:nvSpPr>
        <p:spPr>
          <a:xfrm>
            <a:off x="8833104" y="4251960"/>
            <a:ext cx="118872" cy="118872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06840" y="2743200"/>
            <a:ext cx="256032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06840" y="2743200"/>
            <a:ext cx="2560320" cy="7315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66960" y="315468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60" y="31546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402336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0F172A"/>
                </a:solidFill>
                <a:latin typeface="Pretendard"/>
              </a:rPr>
              <a:t>퇴근보고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4572000"/>
            <a:ext cx="2011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1200" b="0">
                <a:solidFill>
                  <a:srgbClr val="64748B"/>
                </a:solidFill>
                <a:latin typeface="Pretendard"/>
              </a:rPr>
              <a:t>퇴근보고 작성 → EW 텍스트</a:t>
            </a:r>
          </a:p>
          <a:p>
            <a:pPr algn="ctr">
              <a:lnSpc>
                <a:spcPct val="145000"/>
              </a:lnSpc>
            </a:pPr>
            <a:r>
              <a:rPr sz="1200" b="0">
                <a:solidFill>
                  <a:srgbClr val="64748B"/>
                </a:solidFill>
                <a:latin typeface="Pretendard"/>
              </a:rPr>
              <a:t>자동 복사 → EW 붙여넣기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Pretendard"/>
              </a:rPr>
              <a:t>💡  로그인 1회 ·  출근 1클릭  ·  퇴근보고 작성 5분 ·  EW 붙여넣기 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Pretendard"/>
              </a:rPr>
              <a:t>03  · 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0F172A"/>
                </a:solidFill>
                <a:latin typeface="Pretendard"/>
              </a:rPr>
              <a:t>첫 로그인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Pretendard"/>
              </a:rPr>
              <a:t>Google 계정 한 번이면 끝, 30일 자동 유지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2560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Pretendard"/>
              </a:rPr>
              <a:t>04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4A3B8"/>
                </a:solidFill>
                <a:latin typeface="Pretendard"/>
              </a:rPr>
              <a:t>N-Click  ·  Quick Guide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761488"/>
            <a:ext cx="457200" cy="4572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614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E40AF"/>
                </a:solidFill>
                <a:latin typeface="Pretendar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517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Pretendard"/>
              </a:rPr>
              <a:t>N-Click 주소 접속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971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Pretendard"/>
              </a:rPr>
              <a:t>ewassistant.vercel.app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474720"/>
            <a:ext cx="457200" cy="4572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4747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E40AF"/>
                </a:solidFill>
                <a:latin typeface="Pretendar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6499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Pretendard"/>
              </a:rPr>
              <a:t>Google 계정으로 로그인 클릭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68503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Pretendard"/>
              </a:rPr>
              <a:t>회사 메일 사용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187952"/>
            <a:ext cx="457200" cy="4572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1879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E40AF"/>
                </a:solidFill>
                <a:latin typeface="Pretendar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07822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Pretendard"/>
              </a:rPr>
              <a:t>회사 메일 계정 선택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39826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Pretendard"/>
              </a:rPr>
              <a:t>권한 화면 그대로 진행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901184"/>
            <a:ext cx="457200" cy="4572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90118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E40AF"/>
                </a:solidFill>
                <a:latin typeface="Pretendar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79145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Pretendard"/>
              </a:rPr>
              <a:t>이름 입력 + 약관/개인정보 동의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11149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Pretendard"/>
              </a:rPr>
              <a:t>최초 1회만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5614416"/>
            <a:ext cx="457200" cy="4572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61441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E40AF"/>
                </a:solidFill>
                <a:latin typeface="Pretendard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50468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Pretendard"/>
              </a:rPr>
              <a:t>관리자 승인 대기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8247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Pretendard"/>
              </a:rPr>
              <a:t>신규 계정에 한함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49440" y="2606040"/>
            <a:ext cx="4617720" cy="36576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61120" y="310896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0" y="310896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Pretendard"/>
              </a:rPr>
              <a:t>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84048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0F172A"/>
                </a:solidFill>
                <a:latin typeface="Pretendard"/>
              </a:rPr>
              <a:t>N-Click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297680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Pretendard"/>
              </a:rPr>
              <a:t>출퇴근보고 시스템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9520" y="5029200"/>
            <a:ext cx="3337560" cy="6400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0" y="5029200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0F172A"/>
                </a:solidFill>
                <a:latin typeface="Pretendard"/>
              </a:rPr>
              <a:t>🔐    Google 계정으로 로그인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Pretendard"/>
              </a:rPr>
              <a:t>04  · 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0F172A"/>
                </a:solidFill>
                <a:latin typeface="Pretendard"/>
              </a:rPr>
              <a:t>메인 화면 — 상태 둘러보기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Pretendard"/>
              </a:rPr>
              <a:t>팀원 모두의 출퇴근 상태를 한 화면에서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2560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Pretendard"/>
              </a:rPr>
              <a:t>05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4A3B8"/>
                </a:solidFill>
                <a:latin typeface="Pretendard"/>
              </a:rPr>
              <a:t>N-Click  ·  Quick Guide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68880"/>
            <a:ext cx="10927080" cy="3566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468880"/>
            <a:ext cx="10927080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2587752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877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Pretendard"/>
              </a:rPr>
              <a:t>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58775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Pretendard"/>
              </a:rPr>
              <a:t>N-Click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5877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Pretendard"/>
              </a:rPr>
              <a:t>상태 둘러보기   ·   My Page   ·   전체 제출 내역   ·   EW 바로가기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154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Pretendard"/>
              </a:rPr>
              <a:t>팀 상태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74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Pretendard"/>
              </a:rPr>
              <a:t>📅 2026-05-06   ·   HR임팩트본부 / 마이스팀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3886200"/>
            <a:ext cx="2468880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5840" y="3886200"/>
            <a:ext cx="64008" cy="1965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34440" y="4069080"/>
            <a:ext cx="411480" cy="4114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40690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E40AF"/>
                </a:solidFill>
                <a:latin typeface="Pretendard"/>
              </a:rPr>
              <a:t>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050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F172A"/>
                </a:solidFill>
                <a:latin typeface="Pretendard"/>
              </a:rPr>
              <a:t>김민재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80359" y="4087368"/>
            <a:ext cx="411480" cy="2286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80359" y="4087368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1E40AF"/>
                </a:solidFill>
                <a:latin typeface="Pretendard"/>
              </a:rPr>
              <a:t>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29768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Pretendard"/>
              </a:rPr>
              <a:t>마이스팀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" y="466344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466344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2563EB"/>
                </a:solidFill>
                <a:latin typeface="Pretendard"/>
              </a:rPr>
              <a:t>출근보고 작성됨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50749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Pretendard"/>
              </a:rPr>
              <a:t>🕒  출근  09:00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53035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Pretendard"/>
              </a:rPr>
              <a:t>🕒  퇴근  18:00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5321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Pretendard"/>
              </a:rPr>
              <a:t>📍  사무실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11880" y="3886200"/>
            <a:ext cx="2468880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11880" y="3886200"/>
            <a:ext cx="64008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840480" y="4069080"/>
            <a:ext cx="411480" cy="4114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0" y="40690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E40AF"/>
                </a:solidFill>
                <a:latin typeface="Pretendard"/>
              </a:rPr>
              <a:t>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4050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F172A"/>
                </a:solidFill>
                <a:latin typeface="Pretendard"/>
              </a:rPr>
              <a:t>김주영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429768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Pretendard"/>
              </a:rPr>
              <a:t>마이스팀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40480" y="466344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0" y="466344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10B981"/>
                </a:solidFill>
                <a:latin typeface="Pretendard"/>
              </a:rPr>
              <a:t>근무 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50749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Pretendard"/>
              </a:rPr>
              <a:t>🕒  출근  09:00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53035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Pretendard"/>
              </a:rPr>
              <a:t>🕒  퇴근  18:00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55321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Pretendard"/>
              </a:rPr>
              <a:t>📍  사무실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3886200"/>
            <a:ext cx="2468880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3886200"/>
            <a:ext cx="64008" cy="19659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46520" y="4069080"/>
            <a:ext cx="411480" cy="4114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40690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E40AF"/>
                </a:solidFill>
                <a:latin typeface="Pretendard"/>
              </a:rPr>
              <a:t>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4050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F172A"/>
                </a:solidFill>
                <a:latin typeface="Pretendard"/>
              </a:rPr>
              <a:t>이수진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429768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Pretendard"/>
              </a:rPr>
              <a:t>마이스팀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46520" y="466344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466344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59E0B"/>
                </a:solidFill>
                <a:latin typeface="Pretendard"/>
              </a:rPr>
              <a:t>휴게 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50749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Pretendard"/>
              </a:rPr>
              <a:t>🕒  출근  09:00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53035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Pretendard"/>
              </a:rPr>
              <a:t>🕒  퇴근  18:00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55321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Pretendard"/>
              </a:rPr>
              <a:t>📍  사무실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823960" y="3886200"/>
            <a:ext cx="2468880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823960" y="3886200"/>
            <a:ext cx="64008" cy="196596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052560" y="4069080"/>
            <a:ext cx="411480" cy="4114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52560" y="40690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E40AF"/>
                </a:solidFill>
                <a:latin typeface="Pretendard"/>
              </a:rPr>
              <a:t>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55480" y="40507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F172A"/>
                </a:solidFill>
                <a:latin typeface="Pretendard"/>
              </a:rPr>
              <a:t>박지호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55480" y="429768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Pretendard"/>
              </a:rPr>
              <a:t>마이스팀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052560" y="466344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52560" y="466344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94A3B8"/>
                </a:solidFill>
                <a:latin typeface="Pretendard"/>
              </a:rPr>
              <a:t>미제출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52560" y="50749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Pretendard"/>
              </a:rPr>
              <a:t>🕒  출근  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0" y="53035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Pretendard"/>
              </a:rPr>
              <a:t>🕒  퇴근  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52560" y="55321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Pretendard"/>
              </a:rPr>
              <a:t>📍  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6126480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Pretendard"/>
              </a:rPr>
              <a:t>카드 색상</a:t>
            </a:r>
          </a:p>
        </p:txBody>
      </p:sp>
      <p:sp>
        <p:nvSpPr>
          <p:cNvPr id="63" name="Oval 62"/>
          <p:cNvSpPr/>
          <p:nvPr/>
        </p:nvSpPr>
        <p:spPr>
          <a:xfrm>
            <a:off x="1737360" y="6181344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938528" y="612648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34155"/>
                </a:solidFill>
                <a:latin typeface="Pretendard"/>
              </a:rPr>
              <a:t>근무 중</a:t>
            </a:r>
          </a:p>
        </p:txBody>
      </p:sp>
      <p:sp>
        <p:nvSpPr>
          <p:cNvPr id="65" name="Oval 64"/>
          <p:cNvSpPr/>
          <p:nvPr/>
        </p:nvSpPr>
        <p:spPr>
          <a:xfrm>
            <a:off x="3977640" y="6181344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78808" y="612648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34155"/>
                </a:solidFill>
                <a:latin typeface="Pretendard"/>
              </a:rPr>
              <a:t>출근보고 작성됨</a:t>
            </a:r>
          </a:p>
        </p:txBody>
      </p:sp>
      <p:sp>
        <p:nvSpPr>
          <p:cNvPr id="67" name="Oval 66"/>
          <p:cNvSpPr/>
          <p:nvPr/>
        </p:nvSpPr>
        <p:spPr>
          <a:xfrm>
            <a:off x="6217920" y="6181344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19088" y="612648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34155"/>
                </a:solidFill>
                <a:latin typeface="Pretendard"/>
              </a:rPr>
              <a:t>휴게 중</a:t>
            </a:r>
          </a:p>
        </p:txBody>
      </p:sp>
      <p:sp>
        <p:nvSpPr>
          <p:cNvPr id="69" name="Oval 68"/>
          <p:cNvSpPr/>
          <p:nvPr/>
        </p:nvSpPr>
        <p:spPr>
          <a:xfrm>
            <a:off x="8458200" y="6181344"/>
            <a:ext cx="128016" cy="128016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659368" y="612648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34155"/>
                </a:solidFill>
                <a:latin typeface="Pretendard"/>
              </a:rPr>
              <a:t>미제출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Pretendard"/>
              </a:rPr>
              <a:t>05  ·  CHECK-IN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0F172A"/>
                </a:solidFill>
                <a:latin typeface="Pretendard"/>
              </a:rPr>
              <a:t>출근하기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Pretendard"/>
              </a:rPr>
              <a:t>내 카드에서 출근 버튼을 누르면 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2560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Pretendard"/>
              </a:rPr>
              <a:t>06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4A3B8"/>
                </a:solidFill>
                <a:latin typeface="Pretendard"/>
              </a:rPr>
              <a:t>N-Click  ·  Quick Guide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1E40AF"/>
                </a:solidFill>
                <a:latin typeface="Pretendard"/>
              </a:rPr>
              <a:t>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6060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172A"/>
                </a:solidFill>
                <a:latin typeface="Pretendard"/>
              </a:rPr>
              <a:t>출근 버튼 클릭 시 현재 시각으로 자동 기록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95351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Pretendard"/>
              </a:rPr>
              <a:t>필요하면 직접 수정도 가능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7472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4747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1E40AF"/>
                </a:solidFill>
                <a:latin typeface="Pretendard"/>
              </a:rPr>
              <a:t>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4747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172A"/>
                </a:solidFill>
                <a:latin typeface="Pretendard"/>
              </a:rPr>
              <a:t>근무지 선택 — 사무실 / 재택 / 외근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82219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Pretendard"/>
              </a:rPr>
              <a:t>오늘의 근무 형태 한 번만 선택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4340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3434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1E40AF"/>
                </a:solidFill>
                <a:latin typeface="Pretendard"/>
              </a:rPr>
              <a:t>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3434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172A"/>
                </a:solidFill>
                <a:latin typeface="Pretendard"/>
              </a:rPr>
              <a:t>늦은 출근은 "출근시각 직접 입력" 사용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69087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Pretendard"/>
              </a:rPr>
              <a:t>30분 단위로 시각 선택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2120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2120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1E40AF"/>
                </a:solidFill>
                <a:latin typeface="Pretendard"/>
              </a:rPr>
              <a:t>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2120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172A"/>
                </a:solidFill>
                <a:latin typeface="Pretendard"/>
              </a:rPr>
              <a:t>출근 즉시 Teams에 알림 발송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55955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Pretendard"/>
              </a:rPr>
              <a:t>팀원에게도 자동 공유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0" y="2468880"/>
            <a:ext cx="452628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40880" y="2468880"/>
            <a:ext cx="73152" cy="38404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06640" y="2834640"/>
            <a:ext cx="548640" cy="54864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28346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1E40AF"/>
                </a:solidFill>
                <a:latin typeface="Pretendard"/>
              </a:rPr>
              <a:t>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285292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F172A"/>
                </a:solidFill>
                <a:latin typeface="Pretendard"/>
              </a:rPr>
              <a:t>김민재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35440" y="292608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2926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1E40AF"/>
                </a:solidFill>
                <a:latin typeface="Pretendard"/>
              </a:rPr>
              <a:t>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06640" y="3566160"/>
            <a:ext cx="3794760" cy="36576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0" y="3566160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10B981"/>
                </a:solidFill>
                <a:latin typeface="Pretendard"/>
              </a:rPr>
              <a:t>근무 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4160520"/>
            <a:ext cx="3794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Pretendard"/>
              </a:rPr>
              <a:t>🕒  출근  09:00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4480560"/>
            <a:ext cx="3794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Pretendard"/>
              </a:rPr>
              <a:t>🕒  퇴근  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4800600"/>
            <a:ext cx="3794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Pretendard"/>
              </a:rPr>
              <a:t>📍  사무실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06640" y="5349240"/>
            <a:ext cx="1203960" cy="502920"/>
          </a:xfrm>
          <a:prstGeom prst="roundRect">
            <a:avLst>
              <a:gd name="adj" fmla="val 18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06640" y="5349240"/>
            <a:ext cx="1203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0B981"/>
                </a:solidFill>
                <a:latin typeface="Pretendard"/>
              </a:rPr>
              <a:t>✓ 출근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02040" y="5349240"/>
            <a:ext cx="1203960" cy="502920"/>
          </a:xfrm>
          <a:prstGeom prst="roundRect">
            <a:avLst>
              <a:gd name="adj" fmla="val 18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02040" y="5349240"/>
            <a:ext cx="1203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59E0B"/>
                </a:solidFill>
                <a:latin typeface="Pretendard"/>
              </a:rPr>
              <a:t>☕ 휴게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997440" y="5349240"/>
            <a:ext cx="1203960" cy="502920"/>
          </a:xfrm>
          <a:prstGeom prst="roundRect">
            <a:avLst>
              <a:gd name="adj" fmla="val 18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97440" y="5349240"/>
            <a:ext cx="1203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Pretendard"/>
              </a:rPr>
              <a:t>📋 퇴근보고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Pretendard"/>
              </a:rPr>
              <a:t>06  ·  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0F172A"/>
                </a:solidFill>
                <a:latin typeface="Pretendard"/>
              </a:rPr>
              <a:t>자리비움 / 휴게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Pretendard"/>
              </a:rPr>
              <a:t>점심이나 잠깐 자리 비울 때 — 휴게시간 자동 기록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2560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Pretendard"/>
              </a:rPr>
              <a:t>07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4A3B8"/>
                </a:solidFill>
                <a:latin typeface="Pretendard"/>
              </a:rPr>
              <a:t>N-Click  ·  Quick Guide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43200"/>
            <a:ext cx="338328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28800" y="3108960"/>
            <a:ext cx="1005840" cy="100584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33832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200" b="0">
                <a:solidFill>
                  <a:srgbClr val="F59E0B"/>
                </a:solidFill>
                <a:latin typeface="Pretendard"/>
              </a:rPr>
              <a:t>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5196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0F172A"/>
                </a:solidFill>
                <a:latin typeface="Pretendard"/>
              </a:rPr>
              <a:t>휴게 시작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Pretendard"/>
              </a:rPr>
              <a:t>버튼 클릭</a:t>
            </a:r>
          </a:p>
        </p:txBody>
      </p:sp>
      <p:sp>
        <p:nvSpPr>
          <p:cNvPr id="13" name="Oval 12"/>
          <p:cNvSpPr/>
          <p:nvPr/>
        </p:nvSpPr>
        <p:spPr>
          <a:xfrm>
            <a:off x="4114800" y="3840480"/>
            <a:ext cx="137160" cy="137160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43400" y="2743200"/>
            <a:ext cx="338328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532120" y="3108960"/>
            <a:ext cx="1005840" cy="100584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3108960"/>
            <a:ext cx="33832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200" b="0">
                <a:solidFill>
                  <a:srgbClr val="2563EB"/>
                </a:solidFill>
                <a:latin typeface="Pretendard"/>
              </a:rPr>
              <a:t>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425196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0F172A"/>
                </a:solidFill>
                <a:latin typeface="Pretendard"/>
              </a:rPr>
              <a:t>자리 비움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46634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Pretendard"/>
              </a:rPr>
              <a:t>시간 자동 누적</a:t>
            </a:r>
          </a:p>
        </p:txBody>
      </p:sp>
      <p:sp>
        <p:nvSpPr>
          <p:cNvPr id="19" name="Oval 18"/>
          <p:cNvSpPr/>
          <p:nvPr/>
        </p:nvSpPr>
        <p:spPr>
          <a:xfrm>
            <a:off x="7818120" y="3840480"/>
            <a:ext cx="137160" cy="137160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6720" y="2743200"/>
            <a:ext cx="338328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35440" y="3108960"/>
            <a:ext cx="1005840" cy="100584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3108960"/>
            <a:ext cx="33832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200" b="0">
                <a:solidFill>
                  <a:srgbClr val="10B981"/>
                </a:solidFill>
                <a:latin typeface="Pretendard"/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25196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0F172A"/>
                </a:solidFill>
                <a:latin typeface="Pretendard"/>
              </a:rPr>
              <a:t>휴게 종료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46634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Pretendard"/>
              </a:rPr>
              <a:t>버튼 클릭 → 복귀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5458968" cy="91440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9525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65099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59E0B"/>
                </a:solidFill>
                <a:latin typeface="Pretendard"/>
              </a:rPr>
              <a:t>💡  자동 누적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9436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4155"/>
                </a:solidFill>
                <a:latin typeface="Pretendard"/>
              </a:rPr>
              <a:t>자리비운 시간이 퇴근보고의 휴게시간에 자동 누적됩니다.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5486400"/>
            <a:ext cx="5212080" cy="9144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565099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Pretendard"/>
              </a:rPr>
              <a:t>🍱  점심시간은 별도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59436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4155"/>
                </a:solidFill>
                <a:latin typeface="Pretendard"/>
              </a:rPr>
              <a:t>11:30~13:30은 EW 계산기가 자동 처리 — 따로 입력하지 않아도 OK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Pretendard"/>
              </a:rPr>
              <a:t>07  ·  CHECK-OUT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0F172A"/>
                </a:solidFill>
                <a:latin typeface="Pretendard"/>
              </a:rPr>
              <a:t>퇴근 보고 작성하기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Pretendard"/>
              </a:rPr>
              <a:t>모달에서 검토 후 "제출 및 복사하기" — EW에 붙여넣기까지 한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2560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Pretendard"/>
              </a:rPr>
              <a:t>08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4A3B8"/>
                </a:solidFill>
                <a:latin typeface="Pretendard"/>
              </a:rPr>
              <a:t>N-Click  ·  Quick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563EB"/>
                </a:solidFill>
                <a:latin typeface="Pretendard"/>
              </a:rPr>
              <a:t>제출 절차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971800"/>
            <a:ext cx="274320" cy="2743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E40AF"/>
                </a:solidFill>
                <a:latin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9260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172A"/>
                </a:solidFill>
                <a:latin typeface="Pretendard"/>
              </a:rPr>
              <a:t>카드의 "퇴근보고 작성" 클릭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355847"/>
            <a:ext cx="274320" cy="2743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55847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E40AF"/>
                </a:solidFill>
                <a:latin typeface="Pretendar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310127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172A"/>
                </a:solidFill>
                <a:latin typeface="Pretendard"/>
              </a:rPr>
              <a:t>모달에서 자동 채워진 정보 확인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739895"/>
            <a:ext cx="274320" cy="2743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39895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E40AF"/>
                </a:solidFill>
                <a:latin typeface="Pretendar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694175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172A"/>
                </a:solidFill>
                <a:latin typeface="Pretendard"/>
              </a:rPr>
              <a:t>근무내용 입력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123944"/>
            <a:ext cx="274320" cy="2743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239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E40AF"/>
                </a:solidFill>
                <a:latin typeface="Pretendar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07822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172A"/>
                </a:solidFill>
                <a:latin typeface="Pretendard"/>
              </a:rPr>
              <a:t>우측 EW 미리보기 확인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507991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07991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462271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172A"/>
                </a:solidFill>
                <a:latin typeface="Pretendard"/>
              </a:rPr>
              <a:t>"제출 및 복사하기" 클릭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489204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8920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8463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F172A"/>
                </a:solidFill>
                <a:latin typeface="Pretendard"/>
              </a:rPr>
              <a:t>EW에 Ctrl+V 로 붙여넣기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486400"/>
            <a:ext cx="5303520" cy="77724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5778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59E0B"/>
                </a:solidFill>
                <a:latin typeface="Pretendard"/>
              </a:rPr>
              <a:t>✨  자동으로 채워지는 항목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85216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334155"/>
                </a:solidFill>
                <a:latin typeface="Pretendard"/>
              </a:rPr>
              <a:t>출퇴근 시각 · 근무지 타임라인 · 휴게시간   ·   30분 단위로 수정 가능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2468880"/>
            <a:ext cx="530352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2468880"/>
            <a:ext cx="5303520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2468880"/>
            <a:ext cx="5303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F172A"/>
                </a:solidFill>
                <a:latin typeface="Pretendard"/>
              </a:rPr>
              <a:t>출퇴근보고 입력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2468880"/>
            <a:ext cx="5074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solidFill>
                  <a:srgbClr val="94A3B8"/>
                </a:solidFill>
                <a:latin typeface="Pretendard"/>
              </a:rPr>
              <a:t>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315468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Pretendard"/>
              </a:rPr>
              <a:t>근무유형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63840" y="3154680"/>
            <a:ext cx="3611880" cy="292608"/>
          </a:xfrm>
          <a:prstGeom prst="roundRect">
            <a:avLst>
              <a:gd name="adj" fmla="val 18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0" y="3154680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F172A"/>
                </a:solidFill>
                <a:latin typeface="Pretendard"/>
              </a:rPr>
              <a:t>기본근무 등록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3538728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Pretendard"/>
              </a:rPr>
              <a:t>근무장소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63840" y="3538728"/>
            <a:ext cx="3611880" cy="292608"/>
          </a:xfrm>
          <a:prstGeom prst="roundRect">
            <a:avLst>
              <a:gd name="adj" fmla="val 18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80" y="3538728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F172A"/>
                </a:solidFill>
                <a:latin typeface="Pretendard"/>
              </a:rPr>
              <a:t>사무실  09:00 ~  →  퇴근예정  18:00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3922776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Pretendard"/>
              </a:rPr>
              <a:t>휴가/반차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63840" y="3922776"/>
            <a:ext cx="3611880" cy="292608"/>
          </a:xfrm>
          <a:prstGeom prst="roundRect">
            <a:avLst>
              <a:gd name="adj" fmla="val 18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55280" y="3922776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F172A"/>
                </a:solidFill>
                <a:latin typeface="Pretendard"/>
              </a:rPr>
              <a:t>없음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4306824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Pretendard"/>
              </a:rPr>
              <a:t>출근/퇴근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63840" y="4306824"/>
            <a:ext cx="3611880" cy="292608"/>
          </a:xfrm>
          <a:prstGeom prst="roundRect">
            <a:avLst>
              <a:gd name="adj" fmla="val 18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55280" y="430682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F172A"/>
                </a:solidFill>
                <a:latin typeface="Pretendard"/>
              </a:rPr>
              <a:t>09:00  →  18:00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469087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Pretendard"/>
              </a:rPr>
              <a:t>휴게시간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863840" y="4690872"/>
            <a:ext cx="3611880" cy="292608"/>
          </a:xfrm>
          <a:prstGeom prst="roundRect">
            <a:avLst>
              <a:gd name="adj" fmla="val 18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55280" y="4690872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F172A"/>
                </a:solidFill>
                <a:latin typeface="Pretendard"/>
              </a:rPr>
              <a:t>01:00  (자동)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37960" y="507492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Pretendard"/>
              </a:rPr>
              <a:t>근무내용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863840" y="5074920"/>
            <a:ext cx="3611880" cy="292608"/>
          </a:xfrm>
          <a:prstGeom prst="roundRect">
            <a:avLst>
              <a:gd name="adj" fmla="val 18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55280" y="5074920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F172A"/>
                </a:solidFill>
                <a:latin typeface="Pretendard"/>
              </a:rPr>
              <a:t>보안 패치 + 가이드 작성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37960" y="5532120"/>
            <a:ext cx="4754880" cy="411480"/>
          </a:xfrm>
          <a:prstGeom prst="roundRect">
            <a:avLst>
              <a:gd name="adj" fmla="val 18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5120" y="5532120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E40AF"/>
                </a:solidFill>
                <a:latin typeface="Pretendard"/>
              </a:rPr>
              <a:t>EW 미리보기   ·   실근무 8.0   /   휴게 1.0   /   EW = 8.0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37960" y="5989320"/>
            <a:ext cx="4754880" cy="365760"/>
          </a:xfrm>
          <a:prstGeom prst="roundRect">
            <a:avLst>
              <a:gd name="adj" fmla="val 1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37960" y="5989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Pretendard"/>
              </a:rPr>
              <a:t>📋   제출 및 복사하기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Pretendard"/>
              </a:rPr>
              <a:t>08  ·  LEAVE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0F172A"/>
                </a:solidFill>
                <a:latin typeface="Pretendard"/>
              </a:rPr>
              <a:t>휴가 / 반차 입력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Pretendard"/>
              </a:rPr>
              <a:t>퇴근보고 모달의 "휴가/반차" 섹션에서 입력 — EW에서 자동 차감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2560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Pretendard"/>
              </a:rPr>
              <a:t>09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4A3B8"/>
                </a:solidFill>
                <a:latin typeface="Pretendard"/>
              </a:rPr>
              <a:t>N-Click  ·  Quick Guide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68880"/>
            <a:ext cx="5458968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788920"/>
            <a:ext cx="1051560" cy="1051560"/>
          </a:xfrm>
          <a:prstGeom prst="roundRect">
            <a:avLst>
              <a:gd name="adj" fmla="val 12000"/>
            </a:avLst>
          </a:prstGeom>
          <a:solidFill>
            <a:srgbClr val="FF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10515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0">
                <a:solidFill>
                  <a:srgbClr val="F43F5E"/>
                </a:solidFill>
                <a:latin typeface="Pretendard"/>
              </a:rPr>
              <a:t>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743200"/>
            <a:ext cx="3767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0F172A"/>
                </a:solidFill>
                <a:latin typeface="Pretendard"/>
              </a:rPr>
              <a:t>종일 휴가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3246120"/>
            <a:ext cx="3767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43F5E"/>
                </a:solidFill>
                <a:latin typeface="Pretendard"/>
              </a:rPr>
              <a:t>8시간 차감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3547872"/>
            <a:ext cx="3767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Pretendard"/>
              </a:rPr>
              <a:t>EW = 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2468880"/>
            <a:ext cx="5458968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37376" y="2788920"/>
            <a:ext cx="1051560" cy="105156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2788920"/>
            <a:ext cx="10515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0">
                <a:solidFill>
                  <a:srgbClr val="F59E0B"/>
                </a:solidFill>
                <a:latin typeface="Pretendard"/>
              </a:rPr>
              <a:t>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71816" y="2743200"/>
            <a:ext cx="3767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0F172A"/>
                </a:solidFill>
                <a:latin typeface="Pretendard"/>
              </a:rPr>
              <a:t>오전 반차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71816" y="3246120"/>
            <a:ext cx="3767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59E0B"/>
                </a:solidFill>
                <a:latin typeface="Pretendard"/>
              </a:rPr>
              <a:t>4시간 차감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71816" y="3547872"/>
            <a:ext cx="3767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Pretendard"/>
              </a:rPr>
              <a:t>09:00 ~ 13:00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06240"/>
            <a:ext cx="5458968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4526280"/>
            <a:ext cx="1051560" cy="1051560"/>
          </a:xfrm>
          <a:prstGeom prst="roundRect">
            <a:avLst>
              <a:gd name="adj" fmla="val 12000"/>
            </a:avLst>
          </a:prstGeom>
          <a:solidFill>
            <a:srgbClr val="EE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526280"/>
            <a:ext cx="10515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0">
                <a:solidFill>
                  <a:srgbClr val="8B5CF6"/>
                </a:solidFill>
                <a:latin typeface="Pretendard"/>
              </a:rPr>
              <a:t>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480560"/>
            <a:ext cx="3767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0F172A"/>
                </a:solidFill>
                <a:latin typeface="Pretendard"/>
              </a:rPr>
              <a:t>오후 반차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4983480"/>
            <a:ext cx="3767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8B5CF6"/>
                </a:solidFill>
                <a:latin typeface="Pretendard"/>
              </a:rPr>
              <a:t>4시간 차감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5285232"/>
            <a:ext cx="3767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Pretendard"/>
              </a:rPr>
              <a:t>14:00 ~ 18:00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63056" y="4206240"/>
            <a:ext cx="5458968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37376" y="4526280"/>
            <a:ext cx="1051560" cy="105156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4526280"/>
            <a:ext cx="10515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0">
                <a:solidFill>
                  <a:srgbClr val="2563EB"/>
                </a:solidFill>
                <a:latin typeface="Pretendard"/>
              </a:rPr>
              <a:t>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71816" y="4480560"/>
            <a:ext cx="3767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0F172A"/>
                </a:solidFill>
                <a:latin typeface="Pretendard"/>
              </a:rPr>
              <a:t>직접 지정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71816" y="4983480"/>
            <a:ext cx="3767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Pretendard"/>
              </a:rPr>
              <a:t>시간 select 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71816" y="5285232"/>
            <a:ext cx="3767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Pretendard"/>
              </a:rPr>
              <a:t>자유 조정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943600"/>
            <a:ext cx="10927080" cy="457200"/>
          </a:xfrm>
          <a:prstGeom prst="roundRect">
            <a:avLst>
              <a:gd name="adj" fmla="val 18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9436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E40AF"/>
                </a:solidFill>
                <a:latin typeface="Pretendard"/>
              </a:rPr>
              <a:t>💡  회사 캘린더에 휴가 입력 시 카드에 자동 배지 표시  ·  단, EW 계산을 위해 N-Click에서도 별도 입력 필요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Pretendard"/>
              </a:rPr>
              <a:t>09  ·  MY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0F172A"/>
                </a:solidFill>
                <a:latin typeface="Pretendard"/>
              </a:rPr>
              <a:t>My Page — 내 제출 내역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Pretendard"/>
              </a:rPr>
              <a:t>본인이 제출한 모든 보고를 확인하고 수정/삭제 가능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2560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Pretendard"/>
              </a:rPr>
              <a:t>10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4A3B8"/>
                </a:solidFill>
                <a:latin typeface="Pretendard"/>
              </a:rPr>
              <a:t>N-Click  ·  Quick Guide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06040"/>
            <a:ext cx="10927080" cy="4114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Pretendard"/>
              </a:rPr>
              <a:t>근무일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0604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Pretendard"/>
              </a:rPr>
              <a:t>근무장소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606040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Pretendard"/>
              </a:rPr>
              <a:t>출퇴근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606040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Pretendard"/>
              </a:rPr>
              <a:t>실근무 / 휴게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606040"/>
            <a:ext cx="868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Pretendard"/>
              </a:rPr>
              <a:t>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60604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Pretendard"/>
              </a:rPr>
              <a:t>내용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2606040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Pretendard"/>
              </a:rPr>
              <a:t>액션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017520"/>
            <a:ext cx="109270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1752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Pretendard"/>
              </a:rPr>
              <a:t>05/04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01752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Pretendard"/>
              </a:rPr>
              <a:t>사무실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01752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Pretendard"/>
              </a:rPr>
              <a:t>09:00 ~ 18:00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01752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Pretendard"/>
              </a:rPr>
              <a:t>8.0 / 1.0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3017520"/>
            <a:ext cx="868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Pretendard"/>
              </a:rPr>
              <a:t>8.0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01752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Pretendard"/>
              </a:rPr>
              <a:t>보안 패치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09860" y="3136392"/>
            <a:ext cx="365760" cy="274320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09860" y="313639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2563EB"/>
                </a:solidFill>
                <a:latin typeface="Pretendard"/>
              </a:rPr>
              <a:t>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721340" y="3136392"/>
            <a:ext cx="365760" cy="274320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21340" y="313639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59E0B"/>
                </a:solidFill>
                <a:latin typeface="Pretendard"/>
              </a:rPr>
              <a:t>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132820" y="3136392"/>
            <a:ext cx="365760" cy="274320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32820" y="313639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43F5E"/>
                </a:solidFill>
                <a:latin typeface="Pretendard"/>
              </a:rPr>
              <a:t>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520440"/>
            <a:ext cx="10927080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2044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Pretendard"/>
              </a:rPr>
              <a:t>05/03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352044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Pretendard"/>
              </a:rPr>
              <a:t>재택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352044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Pretendard"/>
              </a:rPr>
              <a:t>10:00 ~ 19:00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352044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Pretendard"/>
              </a:rPr>
              <a:t>8.0 / 1.0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3520440"/>
            <a:ext cx="868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Pretendard"/>
              </a:rPr>
              <a:t>8.0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52044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Pretendard"/>
              </a:rPr>
              <a:t>문서 작성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09860" y="3639312"/>
            <a:ext cx="365760" cy="274320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09860" y="36393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2563EB"/>
                </a:solidFill>
                <a:latin typeface="Pretendard"/>
              </a:rPr>
              <a:t>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721340" y="3639312"/>
            <a:ext cx="365760" cy="274320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21340" y="36393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59E0B"/>
                </a:solidFill>
                <a:latin typeface="Pretendard"/>
              </a:rPr>
              <a:t>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132820" y="3639312"/>
            <a:ext cx="365760" cy="274320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132820" y="36393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43F5E"/>
                </a:solidFill>
                <a:latin typeface="Pretendard"/>
              </a:rPr>
              <a:t>🗑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4023360"/>
            <a:ext cx="109270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023360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Pretendard"/>
              </a:rPr>
              <a:t>05/02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45920" y="402336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Pretendard"/>
              </a:rPr>
              <a:t>사무실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0" y="402336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Pretendard"/>
              </a:rPr>
              <a:t>09:00 ~ 17:30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26280" y="402336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Pretendard"/>
              </a:rPr>
              <a:t>7.5 / 1.0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60" y="4023360"/>
            <a:ext cx="868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Pretendard"/>
              </a:rPr>
              <a:t>7.5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402336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Pretendard"/>
              </a:rPr>
              <a:t>회의 + 개발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309860" y="4142232"/>
            <a:ext cx="365760" cy="274320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09860" y="414223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2563EB"/>
                </a:solidFill>
                <a:latin typeface="Pretendard"/>
              </a:rPr>
              <a:t>📋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721340" y="4142232"/>
            <a:ext cx="365760" cy="274320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721340" y="414223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59E0B"/>
                </a:solidFill>
                <a:latin typeface="Pretendard"/>
              </a:rPr>
              <a:t>✏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1132820" y="4142232"/>
            <a:ext cx="365760" cy="274320"/>
          </a:xfrm>
          <a:prstGeom prst="roundRect">
            <a:avLst>
              <a:gd name="adj" fmla="val 1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132820" y="414223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43F5E"/>
                </a:solidFill>
                <a:latin typeface="Pretendard"/>
              </a:rPr>
              <a:t>🗑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4526280"/>
            <a:ext cx="1092708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40080" y="5166360"/>
            <a:ext cx="361188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14400" y="5440680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4400" y="54406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2563EB"/>
                </a:solidFill>
                <a:latin typeface="Pretendard"/>
              </a:rPr>
              <a:t>📋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91640" y="539496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Pretendard"/>
              </a:rPr>
              <a:t>복사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91640" y="5760720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4748B"/>
                </a:solidFill>
                <a:latin typeface="Pretendard"/>
              </a:rPr>
              <a:t>EW 텍스트 클립보드에 복사 → EW 시스템에 붙여넣기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320540" y="5166360"/>
            <a:ext cx="361188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4594860" y="5440680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94860" y="54406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F59E0B"/>
                </a:solidFill>
                <a:latin typeface="Pretendard"/>
              </a:rPr>
              <a:t>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72100" y="539496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Pretendard"/>
              </a:rPr>
              <a:t>수정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72100" y="5760720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4748B"/>
                </a:solidFill>
                <a:latin typeface="Pretendard"/>
              </a:rPr>
              <a:t>연필 아이콘 → 모달에서 변경 → Teams에도 수정 알림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001000" y="5166360"/>
            <a:ext cx="361188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275320" y="5440680"/>
            <a:ext cx="640080" cy="640080"/>
          </a:xfrm>
          <a:prstGeom prst="roundRect">
            <a:avLst>
              <a:gd name="adj" fmla="val 18000"/>
            </a:avLst>
          </a:prstGeom>
          <a:solidFill>
            <a:srgbClr val="FF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75320" y="54406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F43F5E"/>
                </a:solidFill>
                <a:latin typeface="Pretendard"/>
              </a:rPr>
              <a:t>🗑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52560" y="539496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Pretendard"/>
              </a:rPr>
              <a:t>삭제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52560" y="5760720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4748B"/>
                </a:solidFill>
                <a:latin typeface="Pretendard"/>
              </a:rPr>
              <a:t>휴지통 아이콘 → 확인 후 삭제 → Teams에도 삭제 알림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Pretendard"/>
              </a:rPr>
              <a:t>10  ·  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0F172A"/>
                </a:solidFill>
                <a:latin typeface="Pretendard"/>
              </a:rPr>
              <a:t>자주 묻는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4748B"/>
                </a:solidFill>
                <a:latin typeface="Pretendard"/>
              </a:rPr>
              <a:t>막힐 때 가장 많이 보는 질문들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2560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Pretendard"/>
              </a:rPr>
              <a:t>11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4A3B8"/>
                </a:solidFill>
                <a:latin typeface="Pretendard"/>
              </a:rPr>
              <a:t>N-Click  ·  Quick Guide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5458968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697480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97480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Pretendard"/>
              </a:rPr>
              <a:t>Q1.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697480"/>
            <a:ext cx="42702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Pretendard"/>
              </a:rPr>
              <a:t>잘못 출근 눌렀어요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00400"/>
            <a:ext cx="491032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64748B"/>
                </a:solidFill>
                <a:latin typeface="Pretendard"/>
              </a:rPr>
              <a:t>카드의 "출근 취소" 버튼으로 즉시 되돌리기 가능. Teams에도 정정 알림.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2423160"/>
            <a:ext cx="5458968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37376" y="2697480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2697480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59E0B"/>
                </a:solidFill>
                <a:latin typeface="Pretendard"/>
              </a:rPr>
              <a:t>Q2.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23176" y="2697480"/>
            <a:ext cx="42702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Pretendard"/>
              </a:rPr>
              <a:t>제출한 보고 수정하고 싶어요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3200400"/>
            <a:ext cx="491032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64748B"/>
                </a:solidFill>
                <a:latin typeface="Pretendard"/>
              </a:rPr>
              <a:t>My Page → 해당 행의 ✏ 아이콘 → 모달 다시 열림 → 수정 후 저장.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096512"/>
            <a:ext cx="5458968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4370832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370832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0B981"/>
                </a:solidFill>
                <a:latin typeface="Pretendard"/>
              </a:rPr>
              <a:t>Q3.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370832"/>
            <a:ext cx="42702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Pretendard"/>
              </a:rPr>
              <a:t>다른 PC에서 로그인하면 기존 세션 풀려요?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873752"/>
            <a:ext cx="491032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64748B"/>
                </a:solidFill>
                <a:latin typeface="Pretendard"/>
              </a:rPr>
              <a:t>풀리지 않습니다. 각 브라우저는 독립 세션. 한 곳 로그아웃해도 다른 곳 영향 X.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3056" y="4096512"/>
            <a:ext cx="5458968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37376" y="4370832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EE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6" y="4370832"/>
            <a:ext cx="594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8B5CF6"/>
                </a:solidFill>
                <a:latin typeface="Pretendard"/>
              </a:rPr>
              <a:t>Q4.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23176" y="4370832"/>
            <a:ext cx="42702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Pretendard"/>
              </a:rPr>
              <a:t>30일 지나면?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4873752"/>
            <a:ext cx="491032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64748B"/>
                </a:solidFill>
                <a:latin typeface="Pretendard"/>
              </a:rPr>
              <a:t>자동 로그아웃 → 다시 Google 로그인만 하면 끝.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806440"/>
            <a:ext cx="10927080" cy="5486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80644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Pretendard"/>
              </a:rPr>
              <a:t>문의 / 도움이 필요할 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8064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DBEAFE"/>
                </a:solidFill>
                <a:latin typeface="Pretendard"/>
              </a:rPr>
              <a:t>시스템 / 계정 / 권한 문의는 사내 메신저로 관리자에게 연락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